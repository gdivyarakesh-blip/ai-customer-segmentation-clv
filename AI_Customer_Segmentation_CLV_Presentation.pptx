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52560" y="457200"/>
            <a:ext cx="2194560" cy="2194560"/>
          </a:xfrm>
          <a:prstGeom prst="ellipse">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1143000"/>
            <a:ext cx="1097280" cy="1097280"/>
          </a:xfrm>
          <a:prstGeom prst="ellipse">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03920" y="5303520"/>
            <a:ext cx="914400" cy="914400"/>
          </a:xfrm>
          <a:prstGeom prst="ellipse">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43000"/>
            <a:ext cx="7863840" cy="1554480"/>
          </a:xfrm>
          <a:prstGeom prst="rect">
            <a:avLst/>
          </a:prstGeom>
          <a:noFill/>
        </p:spPr>
        <p:txBody>
          <a:bodyPr wrap="none">
            <a:spAutoFit/>
          </a:bodyPr>
          <a:lstStyle/>
          <a:p>
            <a:pPr>
              <a:defRPr sz="3800" b="1">
                <a:solidFill>
                  <a:srgbClr val="F5F8FC"/>
                </a:solidFill>
                <a:latin typeface="Aptos Display"/>
              </a:defRPr>
            </a:pPr>
            <a:r>
              <a:t>AI-Powered</a:t>
            </a:r>
            <a:br/>
            <a:r>
              <a:t>Customer Segmentation</a:t>
            </a:r>
          </a:p>
        </p:txBody>
      </p:sp>
      <p:sp>
        <p:nvSpPr>
          <p:cNvPr id="7" name="TextBox 6"/>
          <p:cNvSpPr txBox="1"/>
          <p:nvPr/>
        </p:nvSpPr>
        <p:spPr>
          <a:xfrm>
            <a:off x="777240" y="2834640"/>
            <a:ext cx="7498079" cy="640080"/>
          </a:xfrm>
          <a:prstGeom prst="rect">
            <a:avLst/>
          </a:prstGeom>
          <a:noFill/>
        </p:spPr>
        <p:txBody>
          <a:bodyPr wrap="none">
            <a:spAutoFit/>
          </a:bodyPr>
          <a:lstStyle/>
          <a:p>
            <a:pPr>
              <a:defRPr sz="2200">
                <a:solidFill>
                  <a:srgbClr val="26B9B0"/>
                </a:solidFill>
                <a:latin typeface="Aptos"/>
              </a:defRPr>
            </a:pPr>
            <a:r>
              <a:t>&amp; Customer Lifetime Value Analysis</a:t>
            </a:r>
          </a:p>
        </p:txBody>
      </p:sp>
      <p:sp>
        <p:nvSpPr>
          <p:cNvPr id="8" name="TextBox 7"/>
          <p:cNvSpPr txBox="1"/>
          <p:nvPr/>
        </p:nvSpPr>
        <p:spPr>
          <a:xfrm>
            <a:off x="777240" y="3794760"/>
            <a:ext cx="6217920" cy="822960"/>
          </a:xfrm>
          <a:prstGeom prst="rect">
            <a:avLst/>
          </a:prstGeom>
          <a:noFill/>
        </p:spPr>
        <p:txBody>
          <a:bodyPr wrap="none">
            <a:spAutoFit/>
          </a:bodyPr>
          <a:lstStyle/>
          <a:p>
            <a:pPr>
              <a:defRPr sz="1600">
                <a:solidFill>
                  <a:srgbClr val="AAB8C9"/>
                </a:solidFill>
                <a:latin typeface="Aptos"/>
              </a:defRPr>
            </a:pPr>
            <a:r>
              <a:t>Turning transaction data into customer intelligence, value measurement, and actionable business strategy.</a:t>
            </a:r>
          </a:p>
        </p:txBody>
      </p:sp>
      <p:sp>
        <p:nvSpPr>
          <p:cNvPr id="9" name="Rounded Rectangle 8"/>
          <p:cNvSpPr/>
          <p:nvPr/>
        </p:nvSpPr>
        <p:spPr>
          <a:xfrm>
            <a:off x="777240" y="4892040"/>
            <a:ext cx="2834640" cy="438912"/>
          </a:xfrm>
          <a:prstGeom prst="round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626"/>
                </a:solidFill>
                <a:latin typeface="Aptos"/>
              </a:defRPr>
            </a:pPr>
            <a:r>
              <a:t>PYTHON  •  ML  •  CLV</a:t>
            </a:r>
          </a:p>
        </p:txBody>
      </p:sp>
      <p:sp>
        <p:nvSpPr>
          <p:cNvPr id="10" name="TextBox 9"/>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01 • OVERVIEW</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Executive Summary</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A customer-level view of value, behavior, and retention opportunity.</a:t>
            </a:r>
          </a:p>
        </p:txBody>
      </p:sp>
      <p:sp>
        <p:nvSpPr>
          <p:cNvPr id="7" name="Rounded Rectangle 6"/>
          <p:cNvSpPr/>
          <p:nvPr/>
        </p:nvSpPr>
        <p:spPr>
          <a:xfrm>
            <a:off x="640080" y="1737360"/>
            <a:ext cx="246888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246888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901952"/>
            <a:ext cx="2139696" cy="320040"/>
          </a:xfrm>
          <a:prstGeom prst="rect">
            <a:avLst/>
          </a:prstGeom>
          <a:noFill/>
        </p:spPr>
        <p:txBody>
          <a:bodyPr wrap="none">
            <a:spAutoFit/>
          </a:bodyPr>
          <a:lstStyle/>
          <a:p>
            <a:pPr>
              <a:defRPr sz="1100" b="1">
                <a:solidFill>
                  <a:srgbClr val="AAB8C9"/>
                </a:solidFill>
                <a:latin typeface="Aptos"/>
              </a:defRPr>
            </a:pPr>
            <a:r>
              <a:t>TRANSACTIONS</a:t>
            </a:r>
          </a:p>
        </p:txBody>
      </p:sp>
      <p:sp>
        <p:nvSpPr>
          <p:cNvPr id="10" name="TextBox 9"/>
          <p:cNvSpPr txBox="1"/>
          <p:nvPr/>
        </p:nvSpPr>
        <p:spPr>
          <a:xfrm>
            <a:off x="804671" y="2267712"/>
            <a:ext cx="2139696" cy="502920"/>
          </a:xfrm>
          <a:prstGeom prst="rect">
            <a:avLst/>
          </a:prstGeom>
          <a:noFill/>
        </p:spPr>
        <p:txBody>
          <a:bodyPr wrap="none">
            <a:spAutoFit/>
          </a:bodyPr>
          <a:lstStyle/>
          <a:p>
            <a:pPr>
              <a:defRPr sz="2400" b="1">
                <a:solidFill>
                  <a:srgbClr val="F5F8FC"/>
                </a:solidFill>
                <a:latin typeface="Aptos Display"/>
              </a:defRPr>
            </a:pPr>
            <a:r>
              <a:t>5,020</a:t>
            </a:r>
          </a:p>
        </p:txBody>
      </p:sp>
      <p:sp>
        <p:nvSpPr>
          <p:cNvPr id="11" name="TextBox 10"/>
          <p:cNvSpPr txBox="1"/>
          <p:nvPr/>
        </p:nvSpPr>
        <p:spPr>
          <a:xfrm>
            <a:off x="804671" y="2761488"/>
            <a:ext cx="2139696" cy="182879"/>
          </a:xfrm>
          <a:prstGeom prst="rect">
            <a:avLst/>
          </a:prstGeom>
          <a:noFill/>
        </p:spPr>
        <p:txBody>
          <a:bodyPr wrap="none">
            <a:spAutoFit/>
          </a:bodyPr>
          <a:lstStyle/>
          <a:p>
            <a:pPr>
              <a:defRPr sz="1000">
                <a:solidFill>
                  <a:srgbClr val="AAB8C9"/>
                </a:solidFill>
                <a:latin typeface="Aptos"/>
              </a:defRPr>
            </a:pPr>
            <a:r>
              <a:t>Records analyzed</a:t>
            </a:r>
          </a:p>
        </p:txBody>
      </p:sp>
      <p:sp>
        <p:nvSpPr>
          <p:cNvPr id="12" name="Rounded Rectangle 11"/>
          <p:cNvSpPr/>
          <p:nvPr/>
        </p:nvSpPr>
        <p:spPr>
          <a:xfrm>
            <a:off x="3337560" y="1737360"/>
            <a:ext cx="246888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737360"/>
            <a:ext cx="246888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901952"/>
            <a:ext cx="2139696" cy="320040"/>
          </a:xfrm>
          <a:prstGeom prst="rect">
            <a:avLst/>
          </a:prstGeom>
          <a:noFill/>
        </p:spPr>
        <p:txBody>
          <a:bodyPr wrap="none">
            <a:spAutoFit/>
          </a:bodyPr>
          <a:lstStyle/>
          <a:p>
            <a:pPr>
              <a:defRPr sz="1100" b="1">
                <a:solidFill>
                  <a:srgbClr val="AAB8C9"/>
                </a:solidFill>
                <a:latin typeface="Aptos"/>
              </a:defRPr>
            </a:pPr>
            <a:r>
              <a:t>CUSTOMERS</a:t>
            </a:r>
          </a:p>
        </p:txBody>
      </p:sp>
      <p:sp>
        <p:nvSpPr>
          <p:cNvPr id="15" name="TextBox 14"/>
          <p:cNvSpPr txBox="1"/>
          <p:nvPr/>
        </p:nvSpPr>
        <p:spPr>
          <a:xfrm>
            <a:off x="3502152" y="2267712"/>
            <a:ext cx="2139696" cy="502920"/>
          </a:xfrm>
          <a:prstGeom prst="rect">
            <a:avLst/>
          </a:prstGeom>
          <a:noFill/>
        </p:spPr>
        <p:txBody>
          <a:bodyPr wrap="none">
            <a:spAutoFit/>
          </a:bodyPr>
          <a:lstStyle/>
          <a:p>
            <a:pPr>
              <a:defRPr sz="2400" b="1">
                <a:solidFill>
                  <a:srgbClr val="F5F8FC"/>
                </a:solidFill>
                <a:latin typeface="Aptos Display"/>
              </a:defRPr>
            </a:pPr>
            <a:r>
              <a:t>750</a:t>
            </a:r>
          </a:p>
        </p:txBody>
      </p:sp>
      <p:sp>
        <p:nvSpPr>
          <p:cNvPr id="16" name="TextBox 15"/>
          <p:cNvSpPr txBox="1"/>
          <p:nvPr/>
        </p:nvSpPr>
        <p:spPr>
          <a:xfrm>
            <a:off x="3502152" y="2761488"/>
            <a:ext cx="2139696" cy="182879"/>
          </a:xfrm>
          <a:prstGeom prst="rect">
            <a:avLst/>
          </a:prstGeom>
          <a:noFill/>
        </p:spPr>
        <p:txBody>
          <a:bodyPr wrap="none">
            <a:spAutoFit/>
          </a:bodyPr>
          <a:lstStyle/>
          <a:p>
            <a:pPr>
              <a:defRPr sz="1000">
                <a:solidFill>
                  <a:srgbClr val="AAB8C9"/>
                </a:solidFill>
                <a:latin typeface="Aptos"/>
              </a:defRPr>
            </a:pPr>
            <a:r>
              <a:t>Unique customers</a:t>
            </a:r>
          </a:p>
        </p:txBody>
      </p:sp>
      <p:sp>
        <p:nvSpPr>
          <p:cNvPr id="17" name="Rounded Rectangle 16"/>
          <p:cNvSpPr/>
          <p:nvPr/>
        </p:nvSpPr>
        <p:spPr>
          <a:xfrm>
            <a:off x="6035040" y="1737360"/>
            <a:ext cx="246888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35040" y="1737360"/>
            <a:ext cx="246888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9631" y="1901952"/>
            <a:ext cx="2139696" cy="320040"/>
          </a:xfrm>
          <a:prstGeom prst="rect">
            <a:avLst/>
          </a:prstGeom>
          <a:noFill/>
        </p:spPr>
        <p:txBody>
          <a:bodyPr wrap="none">
            <a:spAutoFit/>
          </a:bodyPr>
          <a:lstStyle/>
          <a:p>
            <a:pPr>
              <a:defRPr sz="1100" b="1">
                <a:solidFill>
                  <a:srgbClr val="AAB8C9"/>
                </a:solidFill>
                <a:latin typeface="Aptos"/>
              </a:defRPr>
            </a:pPr>
            <a:r>
              <a:t>AI SEGMENTS</a:t>
            </a:r>
          </a:p>
        </p:txBody>
      </p:sp>
      <p:sp>
        <p:nvSpPr>
          <p:cNvPr id="20" name="TextBox 19"/>
          <p:cNvSpPr txBox="1"/>
          <p:nvPr/>
        </p:nvSpPr>
        <p:spPr>
          <a:xfrm>
            <a:off x="6199631" y="2267712"/>
            <a:ext cx="2139696" cy="502920"/>
          </a:xfrm>
          <a:prstGeom prst="rect">
            <a:avLst/>
          </a:prstGeom>
          <a:noFill/>
        </p:spPr>
        <p:txBody>
          <a:bodyPr wrap="none">
            <a:spAutoFit/>
          </a:bodyPr>
          <a:lstStyle/>
          <a:p>
            <a:pPr>
              <a:defRPr sz="2400" b="1">
                <a:solidFill>
                  <a:srgbClr val="F5F8FC"/>
                </a:solidFill>
                <a:latin typeface="Aptos Display"/>
              </a:defRPr>
            </a:pPr>
            <a:r>
              <a:t>4</a:t>
            </a:r>
          </a:p>
        </p:txBody>
      </p:sp>
      <p:sp>
        <p:nvSpPr>
          <p:cNvPr id="21" name="TextBox 20"/>
          <p:cNvSpPr txBox="1"/>
          <p:nvPr/>
        </p:nvSpPr>
        <p:spPr>
          <a:xfrm>
            <a:off x="6199631" y="2761488"/>
            <a:ext cx="2139696" cy="182879"/>
          </a:xfrm>
          <a:prstGeom prst="rect">
            <a:avLst/>
          </a:prstGeom>
          <a:noFill/>
        </p:spPr>
        <p:txBody>
          <a:bodyPr wrap="none">
            <a:spAutoFit/>
          </a:bodyPr>
          <a:lstStyle/>
          <a:p>
            <a:pPr>
              <a:defRPr sz="1000">
                <a:solidFill>
                  <a:srgbClr val="AAB8C9"/>
                </a:solidFill>
                <a:latin typeface="Aptos"/>
              </a:defRPr>
            </a:pPr>
            <a:r>
              <a:t>Business-oriented groups</a:t>
            </a:r>
          </a:p>
        </p:txBody>
      </p:sp>
      <p:sp>
        <p:nvSpPr>
          <p:cNvPr id="22" name="Rounded Rectangle 21"/>
          <p:cNvSpPr/>
          <p:nvPr/>
        </p:nvSpPr>
        <p:spPr>
          <a:xfrm>
            <a:off x="8732520" y="1737360"/>
            <a:ext cx="246888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32520" y="1737360"/>
            <a:ext cx="2468880" cy="64008"/>
          </a:xfrm>
          <a:prstGeom prst="rect">
            <a:avLst/>
          </a:prstGeom>
          <a:solidFill>
            <a:srgbClr val="56C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97112" y="1901952"/>
            <a:ext cx="2139696" cy="320040"/>
          </a:xfrm>
          <a:prstGeom prst="rect">
            <a:avLst/>
          </a:prstGeom>
          <a:noFill/>
        </p:spPr>
        <p:txBody>
          <a:bodyPr wrap="none">
            <a:spAutoFit/>
          </a:bodyPr>
          <a:lstStyle/>
          <a:p>
            <a:pPr>
              <a:defRPr sz="1100" b="1">
                <a:solidFill>
                  <a:srgbClr val="AAB8C9"/>
                </a:solidFill>
                <a:latin typeface="Aptos"/>
              </a:defRPr>
            </a:pPr>
            <a:r>
              <a:t>TOP AVG CLV</a:t>
            </a:r>
          </a:p>
        </p:txBody>
      </p:sp>
      <p:sp>
        <p:nvSpPr>
          <p:cNvPr id="25" name="TextBox 24"/>
          <p:cNvSpPr txBox="1"/>
          <p:nvPr/>
        </p:nvSpPr>
        <p:spPr>
          <a:xfrm>
            <a:off x="8897112" y="2267712"/>
            <a:ext cx="2139696" cy="502920"/>
          </a:xfrm>
          <a:prstGeom prst="rect">
            <a:avLst/>
          </a:prstGeom>
          <a:noFill/>
        </p:spPr>
        <p:txBody>
          <a:bodyPr wrap="none">
            <a:spAutoFit/>
          </a:bodyPr>
          <a:lstStyle/>
          <a:p>
            <a:pPr>
              <a:defRPr sz="2400" b="1">
                <a:solidFill>
                  <a:srgbClr val="F5F8FC"/>
                </a:solidFill>
                <a:latin typeface="Aptos Display"/>
              </a:defRPr>
            </a:pPr>
            <a:r>
              <a:t>₹2.81L</a:t>
            </a:r>
          </a:p>
        </p:txBody>
      </p:sp>
      <p:sp>
        <p:nvSpPr>
          <p:cNvPr id="26" name="TextBox 25"/>
          <p:cNvSpPr txBox="1"/>
          <p:nvPr/>
        </p:nvSpPr>
        <p:spPr>
          <a:xfrm>
            <a:off x="8897112" y="2761488"/>
            <a:ext cx="2139696" cy="182879"/>
          </a:xfrm>
          <a:prstGeom prst="rect">
            <a:avLst/>
          </a:prstGeom>
          <a:noFill/>
        </p:spPr>
        <p:txBody>
          <a:bodyPr wrap="none">
            <a:spAutoFit/>
          </a:bodyPr>
          <a:lstStyle/>
          <a:p>
            <a:pPr>
              <a:defRPr sz="1000">
                <a:solidFill>
                  <a:srgbClr val="AAB8C9"/>
                </a:solidFill>
                <a:latin typeface="Aptos"/>
              </a:defRPr>
            </a:pPr>
            <a:r>
              <a:t>VIP segment</a:t>
            </a:r>
          </a:p>
        </p:txBody>
      </p:sp>
      <p:sp>
        <p:nvSpPr>
          <p:cNvPr id="27" name="TextBox 26"/>
          <p:cNvSpPr txBox="1"/>
          <p:nvPr/>
        </p:nvSpPr>
        <p:spPr>
          <a:xfrm>
            <a:off x="777240" y="3657600"/>
            <a:ext cx="10332720" cy="1920240"/>
          </a:xfrm>
          <a:prstGeom prst="rect">
            <a:avLst/>
          </a:prstGeom>
          <a:noFill/>
        </p:spPr>
        <p:txBody>
          <a:bodyPr wrap="square">
            <a:spAutoFit/>
          </a:bodyPr>
          <a:lstStyle/>
          <a:p>
            <a:pPr>
              <a:spcAft>
                <a:spcPts val="900"/>
              </a:spcAft>
              <a:defRPr sz="1600">
                <a:solidFill>
                  <a:srgbClr val="E8EEF5"/>
                </a:solidFill>
                <a:latin typeface="Aptos"/>
              </a:defRPr>
            </a:pPr>
            <a:r>
              <a:t>• Combine RFM behavior with K-Means clustering to discover customer groups.</a:t>
            </a:r>
          </a:p>
          <a:p>
            <a:pPr>
              <a:spcAft>
                <a:spcPts val="900"/>
              </a:spcAft>
              <a:defRPr sz="1600">
                <a:solidFill>
                  <a:srgbClr val="E8EEF5"/>
                </a:solidFill>
                <a:latin typeface="Aptos"/>
              </a:defRPr>
            </a:pPr>
            <a:r>
              <a:t>• Estimate Customer Lifetime Value to distinguish customer importance beyond recent sales.</a:t>
            </a:r>
          </a:p>
          <a:p>
            <a:pPr>
              <a:spcAft>
                <a:spcPts val="900"/>
              </a:spcAft>
              <a:defRPr sz="1600">
                <a:solidFill>
                  <a:srgbClr val="E8EEF5"/>
                </a:solidFill>
                <a:latin typeface="Aptos"/>
              </a:defRPr>
            </a:pPr>
            <a:r>
              <a:t>• Translate segments into targeted actions: retain, grow, re-engage, or optimize.</a:t>
            </a:r>
          </a:p>
        </p:txBody>
      </p:sp>
      <p:sp>
        <p:nvSpPr>
          <p:cNvPr id="28" name="TextBox 27"/>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02 • WHY THIS MATTERS</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Business Problem &amp; Objective</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Not every customer should receive the same strategy.</a:t>
            </a:r>
          </a:p>
        </p:txBody>
      </p:sp>
      <p:sp>
        <p:nvSpPr>
          <p:cNvPr id="7" name="Rounded Rectangle 6"/>
          <p:cNvSpPr/>
          <p:nvPr/>
        </p:nvSpPr>
        <p:spPr>
          <a:xfrm>
            <a:off x="685800" y="1691640"/>
            <a:ext cx="5212080" cy="33832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91640"/>
            <a:ext cx="5212080" cy="64008"/>
          </a:xfrm>
          <a:prstGeom prst="rect">
            <a:avLst/>
          </a:prstGeom>
          <a:solidFill>
            <a:srgbClr val="E86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856232"/>
            <a:ext cx="4882896" cy="320040"/>
          </a:xfrm>
          <a:prstGeom prst="rect">
            <a:avLst/>
          </a:prstGeom>
          <a:noFill/>
        </p:spPr>
        <p:txBody>
          <a:bodyPr wrap="none">
            <a:spAutoFit/>
          </a:bodyPr>
          <a:lstStyle/>
          <a:p>
            <a:pPr>
              <a:defRPr sz="1100" b="1">
                <a:solidFill>
                  <a:srgbClr val="AAB8C9"/>
                </a:solidFill>
                <a:latin typeface="Aptos"/>
              </a:defRPr>
            </a:pPr>
            <a:r>
              <a:t>THE PROBLEM</a:t>
            </a:r>
          </a:p>
        </p:txBody>
      </p:sp>
      <p:sp>
        <p:nvSpPr>
          <p:cNvPr id="10" name="TextBox 9"/>
          <p:cNvSpPr txBox="1"/>
          <p:nvPr/>
        </p:nvSpPr>
        <p:spPr>
          <a:xfrm>
            <a:off x="850392" y="2715768"/>
            <a:ext cx="4882896" cy="2240280"/>
          </a:xfrm>
          <a:prstGeom prst="rect">
            <a:avLst/>
          </a:prstGeom>
          <a:noFill/>
        </p:spPr>
        <p:txBody>
          <a:bodyPr wrap="none">
            <a:spAutoFit/>
          </a:bodyPr>
          <a:lstStyle/>
          <a:p>
            <a:pPr>
              <a:defRPr sz="1000">
                <a:solidFill>
                  <a:srgbClr val="AAB8C9"/>
                </a:solidFill>
                <a:latin typeface="Aptos"/>
              </a:defRPr>
            </a:pPr>
            <a:r>
              <a:t>Transaction data tells us what happened, but raw sales totals do not explain which customers are most valuable, which customers are drifting away, or how different customer groups should be treated.</a:t>
            </a:r>
          </a:p>
        </p:txBody>
      </p:sp>
      <p:sp>
        <p:nvSpPr>
          <p:cNvPr id="11" name="Rounded Rectangle 10"/>
          <p:cNvSpPr/>
          <p:nvPr/>
        </p:nvSpPr>
        <p:spPr>
          <a:xfrm>
            <a:off x="6217920" y="1691640"/>
            <a:ext cx="5212080" cy="33832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691640"/>
            <a:ext cx="521208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56232"/>
            <a:ext cx="4882896" cy="320040"/>
          </a:xfrm>
          <a:prstGeom prst="rect">
            <a:avLst/>
          </a:prstGeom>
          <a:noFill/>
        </p:spPr>
        <p:txBody>
          <a:bodyPr wrap="none">
            <a:spAutoFit/>
          </a:bodyPr>
          <a:lstStyle/>
          <a:p>
            <a:pPr>
              <a:defRPr sz="1100" b="1">
                <a:solidFill>
                  <a:srgbClr val="AAB8C9"/>
                </a:solidFill>
                <a:latin typeface="Aptos"/>
              </a:defRPr>
            </a:pPr>
            <a:r>
              <a:t>THE OBJECTIVE</a:t>
            </a:r>
          </a:p>
        </p:txBody>
      </p:sp>
      <p:sp>
        <p:nvSpPr>
          <p:cNvPr id="14" name="TextBox 13"/>
          <p:cNvSpPr txBox="1"/>
          <p:nvPr/>
        </p:nvSpPr>
        <p:spPr>
          <a:xfrm>
            <a:off x="6382512" y="2715768"/>
            <a:ext cx="4882896" cy="2240280"/>
          </a:xfrm>
          <a:prstGeom prst="rect">
            <a:avLst/>
          </a:prstGeom>
          <a:noFill/>
        </p:spPr>
        <p:txBody>
          <a:bodyPr wrap="none">
            <a:spAutoFit/>
          </a:bodyPr>
          <a:lstStyle/>
          <a:p>
            <a:pPr>
              <a:defRPr sz="1000">
                <a:solidFill>
                  <a:srgbClr val="AAB8C9"/>
                </a:solidFill>
                <a:latin typeface="Aptos"/>
              </a:defRPr>
            </a:pPr>
            <a:r>
              <a:t>Build a repeatable analytics workflow that cleans transaction data, measures Recency–Frequency–Monetary behavior, clusters customers, estimates CLV, and converts the results into practical business recommendations.</a:t>
            </a:r>
          </a:p>
        </p:txBody>
      </p:sp>
      <p:sp>
        <p:nvSpPr>
          <p:cNvPr id="15" name="TextBox 14"/>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03 • FOUNDATION</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Dataset &amp; Technology Stack</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A practical analytics pipeline built in Python.</a:t>
            </a:r>
          </a:p>
        </p:txBody>
      </p:sp>
      <p:sp>
        <p:nvSpPr>
          <p:cNvPr id="7" name="Rounded Rectangle 6"/>
          <p:cNvSpPr/>
          <p:nvPr/>
        </p:nvSpPr>
        <p:spPr>
          <a:xfrm>
            <a:off x="685800" y="1645920"/>
            <a:ext cx="2743200" cy="356616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645920"/>
            <a:ext cx="274320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1810512"/>
            <a:ext cx="2414016" cy="320040"/>
          </a:xfrm>
          <a:prstGeom prst="rect">
            <a:avLst/>
          </a:prstGeom>
          <a:noFill/>
        </p:spPr>
        <p:txBody>
          <a:bodyPr wrap="none">
            <a:spAutoFit/>
          </a:bodyPr>
          <a:lstStyle/>
          <a:p>
            <a:pPr>
              <a:defRPr sz="1100" b="1">
                <a:solidFill>
                  <a:srgbClr val="AAB8C9"/>
                </a:solidFill>
                <a:latin typeface="Aptos"/>
              </a:defRPr>
            </a:pPr>
            <a:r>
              <a:t>DATASET</a:t>
            </a:r>
          </a:p>
        </p:txBody>
      </p:sp>
      <p:sp>
        <p:nvSpPr>
          <p:cNvPr id="10" name="TextBox 9"/>
          <p:cNvSpPr txBox="1"/>
          <p:nvPr/>
        </p:nvSpPr>
        <p:spPr>
          <a:xfrm>
            <a:off x="850392" y="2176272"/>
            <a:ext cx="2414016" cy="502920"/>
          </a:xfrm>
          <a:prstGeom prst="rect">
            <a:avLst/>
          </a:prstGeom>
          <a:noFill/>
        </p:spPr>
        <p:txBody>
          <a:bodyPr wrap="none">
            <a:spAutoFit/>
          </a:bodyPr>
          <a:lstStyle/>
          <a:p>
            <a:pPr>
              <a:defRPr sz="2400" b="1">
                <a:solidFill>
                  <a:srgbClr val="F5F8FC"/>
                </a:solidFill>
                <a:latin typeface="Aptos Display"/>
              </a:defRPr>
            </a:pPr>
            <a:r>
              <a:t>5,020</a:t>
            </a:r>
          </a:p>
        </p:txBody>
      </p:sp>
      <p:sp>
        <p:nvSpPr>
          <p:cNvPr id="11" name="TextBox 10"/>
          <p:cNvSpPr txBox="1"/>
          <p:nvPr/>
        </p:nvSpPr>
        <p:spPr>
          <a:xfrm>
            <a:off x="850392" y="2670048"/>
            <a:ext cx="2414016" cy="2423160"/>
          </a:xfrm>
          <a:prstGeom prst="rect">
            <a:avLst/>
          </a:prstGeom>
          <a:noFill/>
        </p:spPr>
        <p:txBody>
          <a:bodyPr wrap="none">
            <a:spAutoFit/>
          </a:bodyPr>
          <a:lstStyle/>
          <a:p>
            <a:pPr>
              <a:defRPr sz="1000">
                <a:solidFill>
                  <a:srgbClr val="AAB8C9"/>
                </a:solidFill>
                <a:latin typeface="Aptos"/>
              </a:defRPr>
            </a:pPr>
            <a:r>
              <a:t>Transaction records</a:t>
            </a:r>
            <a:br/>
            <a:r>
              <a:t>750 unique customers</a:t>
            </a:r>
            <a:br/>
            <a:r>
              <a:t>Transaction-level purchase data</a:t>
            </a:r>
          </a:p>
        </p:txBody>
      </p:sp>
      <p:sp>
        <p:nvSpPr>
          <p:cNvPr id="12" name="Rounded Rectangle 11"/>
          <p:cNvSpPr/>
          <p:nvPr/>
        </p:nvSpPr>
        <p:spPr>
          <a:xfrm>
            <a:off x="3657600" y="1645920"/>
            <a:ext cx="2743200" cy="356616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0" y="1645920"/>
            <a:ext cx="274320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22191" y="1810512"/>
            <a:ext cx="2414016" cy="320040"/>
          </a:xfrm>
          <a:prstGeom prst="rect">
            <a:avLst/>
          </a:prstGeom>
          <a:noFill/>
        </p:spPr>
        <p:txBody>
          <a:bodyPr wrap="none">
            <a:spAutoFit/>
          </a:bodyPr>
          <a:lstStyle/>
          <a:p>
            <a:pPr>
              <a:defRPr sz="1100" b="1">
                <a:solidFill>
                  <a:srgbClr val="AAB8C9"/>
                </a:solidFill>
                <a:latin typeface="Aptos"/>
              </a:defRPr>
            </a:pPr>
            <a:r>
              <a:t>CORE LIBRARIES</a:t>
            </a:r>
          </a:p>
        </p:txBody>
      </p:sp>
      <p:sp>
        <p:nvSpPr>
          <p:cNvPr id="15" name="TextBox 14"/>
          <p:cNvSpPr txBox="1"/>
          <p:nvPr/>
        </p:nvSpPr>
        <p:spPr>
          <a:xfrm>
            <a:off x="3822191" y="2176272"/>
            <a:ext cx="2414016" cy="502920"/>
          </a:xfrm>
          <a:prstGeom prst="rect">
            <a:avLst/>
          </a:prstGeom>
          <a:noFill/>
        </p:spPr>
        <p:txBody>
          <a:bodyPr wrap="none">
            <a:spAutoFit/>
          </a:bodyPr>
          <a:lstStyle/>
          <a:p>
            <a:pPr>
              <a:defRPr sz="2400" b="1">
                <a:solidFill>
                  <a:srgbClr val="F5F8FC"/>
                </a:solidFill>
                <a:latin typeface="Aptos Display"/>
              </a:defRPr>
            </a:pPr>
            <a:r>
              <a:t>Python</a:t>
            </a:r>
          </a:p>
        </p:txBody>
      </p:sp>
      <p:sp>
        <p:nvSpPr>
          <p:cNvPr id="16" name="TextBox 15"/>
          <p:cNvSpPr txBox="1"/>
          <p:nvPr/>
        </p:nvSpPr>
        <p:spPr>
          <a:xfrm>
            <a:off x="3822191" y="2670048"/>
            <a:ext cx="2414016" cy="2423160"/>
          </a:xfrm>
          <a:prstGeom prst="rect">
            <a:avLst/>
          </a:prstGeom>
          <a:noFill/>
        </p:spPr>
        <p:txBody>
          <a:bodyPr wrap="none">
            <a:spAutoFit/>
          </a:bodyPr>
          <a:lstStyle/>
          <a:p>
            <a:pPr>
              <a:defRPr sz="1000">
                <a:solidFill>
                  <a:srgbClr val="AAB8C9"/>
                </a:solidFill>
                <a:latin typeface="Aptos"/>
              </a:defRPr>
            </a:pPr>
            <a:r>
              <a:t>Pandas • NumPy</a:t>
            </a:r>
            <a:br/>
            <a:r>
              <a:t>Matplotlib • Seaborn</a:t>
            </a:r>
          </a:p>
        </p:txBody>
      </p:sp>
      <p:sp>
        <p:nvSpPr>
          <p:cNvPr id="17" name="Rounded Rectangle 16"/>
          <p:cNvSpPr/>
          <p:nvPr/>
        </p:nvSpPr>
        <p:spPr>
          <a:xfrm>
            <a:off x="6629400" y="1645920"/>
            <a:ext cx="2240280" cy="356616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29400" y="1645920"/>
            <a:ext cx="224028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93992" y="1810512"/>
            <a:ext cx="1911096" cy="320040"/>
          </a:xfrm>
          <a:prstGeom prst="rect">
            <a:avLst/>
          </a:prstGeom>
          <a:noFill/>
        </p:spPr>
        <p:txBody>
          <a:bodyPr wrap="none">
            <a:spAutoFit/>
          </a:bodyPr>
          <a:lstStyle/>
          <a:p>
            <a:pPr>
              <a:defRPr sz="1100" b="1">
                <a:solidFill>
                  <a:srgbClr val="AAB8C9"/>
                </a:solidFill>
                <a:latin typeface="Aptos"/>
              </a:defRPr>
            </a:pPr>
            <a:r>
              <a:t>MACHINE LEARNING</a:t>
            </a:r>
          </a:p>
        </p:txBody>
      </p:sp>
      <p:sp>
        <p:nvSpPr>
          <p:cNvPr id="20" name="TextBox 19"/>
          <p:cNvSpPr txBox="1"/>
          <p:nvPr/>
        </p:nvSpPr>
        <p:spPr>
          <a:xfrm>
            <a:off x="6793992" y="2176272"/>
            <a:ext cx="1911096" cy="502920"/>
          </a:xfrm>
          <a:prstGeom prst="rect">
            <a:avLst/>
          </a:prstGeom>
          <a:noFill/>
        </p:spPr>
        <p:txBody>
          <a:bodyPr wrap="none">
            <a:spAutoFit/>
          </a:bodyPr>
          <a:lstStyle/>
          <a:p>
            <a:pPr>
              <a:defRPr sz="2400" b="1">
                <a:solidFill>
                  <a:srgbClr val="F5F8FC"/>
                </a:solidFill>
                <a:latin typeface="Aptos Display"/>
              </a:defRPr>
            </a:pPr>
            <a:r>
              <a:t>K-Means</a:t>
            </a:r>
          </a:p>
        </p:txBody>
      </p:sp>
      <p:sp>
        <p:nvSpPr>
          <p:cNvPr id="21" name="TextBox 20"/>
          <p:cNvSpPr txBox="1"/>
          <p:nvPr/>
        </p:nvSpPr>
        <p:spPr>
          <a:xfrm>
            <a:off x="6793992" y="2670048"/>
            <a:ext cx="1911096" cy="2423160"/>
          </a:xfrm>
          <a:prstGeom prst="rect">
            <a:avLst/>
          </a:prstGeom>
          <a:noFill/>
        </p:spPr>
        <p:txBody>
          <a:bodyPr wrap="none">
            <a:spAutoFit/>
          </a:bodyPr>
          <a:lstStyle/>
          <a:p>
            <a:pPr>
              <a:defRPr sz="1000">
                <a:solidFill>
                  <a:srgbClr val="AAB8C9"/>
                </a:solidFill>
                <a:latin typeface="Aptos"/>
              </a:defRPr>
            </a:pPr>
            <a:r>
              <a:t>StandardScaler</a:t>
            </a:r>
            <a:br/>
            <a:r>
              <a:t>Elbow Method</a:t>
            </a:r>
          </a:p>
        </p:txBody>
      </p:sp>
      <p:sp>
        <p:nvSpPr>
          <p:cNvPr id="22" name="Rounded Rectangle 21"/>
          <p:cNvSpPr/>
          <p:nvPr/>
        </p:nvSpPr>
        <p:spPr>
          <a:xfrm>
            <a:off x="9098280" y="1645920"/>
            <a:ext cx="2240280" cy="356616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98280" y="1645920"/>
            <a:ext cx="2240280" cy="64008"/>
          </a:xfrm>
          <a:prstGeom prst="rect">
            <a:avLst/>
          </a:prstGeom>
          <a:solidFill>
            <a:srgbClr val="56C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62872" y="1810512"/>
            <a:ext cx="1911096" cy="320040"/>
          </a:xfrm>
          <a:prstGeom prst="rect">
            <a:avLst/>
          </a:prstGeom>
          <a:noFill/>
        </p:spPr>
        <p:txBody>
          <a:bodyPr wrap="none">
            <a:spAutoFit/>
          </a:bodyPr>
          <a:lstStyle/>
          <a:p>
            <a:pPr>
              <a:defRPr sz="1100" b="1">
                <a:solidFill>
                  <a:srgbClr val="AAB8C9"/>
                </a:solidFill>
                <a:latin typeface="Aptos"/>
              </a:defRPr>
            </a:pPr>
            <a:r>
              <a:t>BUSINESS LAYER</a:t>
            </a:r>
          </a:p>
        </p:txBody>
      </p:sp>
      <p:sp>
        <p:nvSpPr>
          <p:cNvPr id="25" name="TextBox 24"/>
          <p:cNvSpPr txBox="1"/>
          <p:nvPr/>
        </p:nvSpPr>
        <p:spPr>
          <a:xfrm>
            <a:off x="9262872" y="2176272"/>
            <a:ext cx="1911096" cy="502920"/>
          </a:xfrm>
          <a:prstGeom prst="rect">
            <a:avLst/>
          </a:prstGeom>
          <a:noFill/>
        </p:spPr>
        <p:txBody>
          <a:bodyPr wrap="none">
            <a:spAutoFit/>
          </a:bodyPr>
          <a:lstStyle/>
          <a:p>
            <a:pPr>
              <a:defRPr sz="2400" b="1">
                <a:solidFill>
                  <a:srgbClr val="F5F8FC"/>
                </a:solidFill>
                <a:latin typeface="Aptos Display"/>
              </a:defRPr>
            </a:pPr>
            <a:r>
              <a:t>RFM + CLV</a:t>
            </a:r>
          </a:p>
        </p:txBody>
      </p:sp>
      <p:sp>
        <p:nvSpPr>
          <p:cNvPr id="26" name="TextBox 25"/>
          <p:cNvSpPr txBox="1"/>
          <p:nvPr/>
        </p:nvSpPr>
        <p:spPr>
          <a:xfrm>
            <a:off x="9262872" y="2670048"/>
            <a:ext cx="1911096" cy="2423160"/>
          </a:xfrm>
          <a:prstGeom prst="rect">
            <a:avLst/>
          </a:prstGeom>
          <a:noFill/>
        </p:spPr>
        <p:txBody>
          <a:bodyPr wrap="none">
            <a:spAutoFit/>
          </a:bodyPr>
          <a:lstStyle/>
          <a:p>
            <a:pPr>
              <a:defRPr sz="1000">
                <a:solidFill>
                  <a:srgbClr val="AAB8C9"/>
                </a:solidFill>
                <a:latin typeface="Aptos"/>
              </a:defRPr>
            </a:pPr>
            <a:r>
              <a:t>Segmentation</a:t>
            </a:r>
            <a:br/>
            <a:r>
              <a:t>Recommendations</a:t>
            </a:r>
          </a:p>
        </p:txBody>
      </p:sp>
      <p:sp>
        <p:nvSpPr>
          <p:cNvPr id="27" name="TextBox 26"/>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04 • METHODOLOGY</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End-to-End Methodology</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From raw transactions to decisions.</a:t>
            </a:r>
          </a:p>
        </p:txBody>
      </p:sp>
      <p:sp>
        <p:nvSpPr>
          <p:cNvPr id="7" name="Rounded Rectangle 6"/>
          <p:cNvSpPr/>
          <p:nvPr/>
        </p:nvSpPr>
        <p:spPr>
          <a:xfrm>
            <a:off x="594360" y="2286000"/>
            <a:ext cx="1417320" cy="868680"/>
          </a:xfrm>
          <a:prstGeom prst="roundRect">
            <a:avLst/>
          </a:prstGeom>
          <a:solidFill>
            <a:srgbClr val="112036"/>
          </a:solidFill>
          <a:ln w="19050">
            <a:solidFill>
              <a:srgbClr val="26B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Raw Data</a:t>
            </a:r>
          </a:p>
        </p:txBody>
      </p:sp>
      <p:cxnSp>
        <p:nvCxnSpPr>
          <p:cNvPr id="8" name="Connector 7"/>
          <p:cNvCxnSpPr/>
          <p:nvPr/>
        </p:nvCxnSpPr>
        <p:spPr>
          <a:xfrm>
            <a:off x="20116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23160" y="2286000"/>
            <a:ext cx="1417320" cy="868680"/>
          </a:xfrm>
          <a:prstGeom prst="roundRect">
            <a:avLst/>
          </a:prstGeom>
          <a:solidFill>
            <a:srgbClr val="112036"/>
          </a:solidFill>
          <a:ln w="19050">
            <a:solidFill>
              <a:srgbClr val="F4B8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Clean</a:t>
            </a:r>
          </a:p>
        </p:txBody>
      </p:sp>
      <p:cxnSp>
        <p:nvCxnSpPr>
          <p:cNvPr id="10" name="Connector 9"/>
          <p:cNvCxnSpPr/>
          <p:nvPr/>
        </p:nvCxnSpPr>
        <p:spPr>
          <a:xfrm>
            <a:off x="38404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51960" y="2286000"/>
            <a:ext cx="1417320" cy="868680"/>
          </a:xfrm>
          <a:prstGeom prst="roundRect">
            <a:avLst/>
          </a:prstGeom>
          <a:solidFill>
            <a:srgbClr val="112036"/>
          </a:solidFill>
          <a:ln w="19050">
            <a:solidFill>
              <a:srgbClr val="529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Explore</a:t>
            </a:r>
          </a:p>
        </p:txBody>
      </p:sp>
      <p:cxnSp>
        <p:nvCxnSpPr>
          <p:cNvPr id="12" name="Connector 11"/>
          <p:cNvCxnSpPr/>
          <p:nvPr/>
        </p:nvCxnSpPr>
        <p:spPr>
          <a:xfrm>
            <a:off x="56692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080760" y="2286000"/>
            <a:ext cx="1417320" cy="868680"/>
          </a:xfrm>
          <a:prstGeom prst="roundRect">
            <a:avLst/>
          </a:prstGeom>
          <a:solidFill>
            <a:srgbClr val="112036"/>
          </a:solidFill>
          <a:ln w="19050">
            <a:solidFill>
              <a:srgbClr val="26B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RFM</a:t>
            </a:r>
          </a:p>
        </p:txBody>
      </p:sp>
      <p:cxnSp>
        <p:nvCxnSpPr>
          <p:cNvPr id="14" name="Connector 13"/>
          <p:cNvCxnSpPr/>
          <p:nvPr/>
        </p:nvCxnSpPr>
        <p:spPr>
          <a:xfrm>
            <a:off x="74980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909560" y="2286000"/>
            <a:ext cx="1417320" cy="868680"/>
          </a:xfrm>
          <a:prstGeom prst="roundRect">
            <a:avLst/>
          </a:prstGeom>
          <a:solidFill>
            <a:srgbClr val="112036"/>
          </a:solidFill>
          <a:ln w="19050">
            <a:solidFill>
              <a:srgbClr val="F4B8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K-Means</a:t>
            </a:r>
          </a:p>
        </p:txBody>
      </p:sp>
      <p:cxnSp>
        <p:nvCxnSpPr>
          <p:cNvPr id="16" name="Connector 15"/>
          <p:cNvCxnSpPr/>
          <p:nvPr/>
        </p:nvCxnSpPr>
        <p:spPr>
          <a:xfrm>
            <a:off x="93268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738360" y="2286000"/>
            <a:ext cx="1417320" cy="868680"/>
          </a:xfrm>
          <a:prstGeom prst="roundRect">
            <a:avLst/>
          </a:prstGeom>
          <a:solidFill>
            <a:srgbClr val="112036"/>
          </a:solidFill>
          <a:ln w="19050">
            <a:solidFill>
              <a:srgbClr val="56C48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CLV</a:t>
            </a:r>
          </a:p>
        </p:txBody>
      </p:sp>
      <p:sp>
        <p:nvSpPr>
          <p:cNvPr id="18" name="Rounded Rectangle 17"/>
          <p:cNvSpPr/>
          <p:nvPr/>
        </p:nvSpPr>
        <p:spPr>
          <a:xfrm>
            <a:off x="1828800" y="4160520"/>
            <a:ext cx="2560320" cy="914400"/>
          </a:xfrm>
          <a:prstGeom prst="roundRect">
            <a:avLst/>
          </a:prstGeom>
          <a:solidFill>
            <a:srgbClr val="112036"/>
          </a:solidFill>
          <a:ln w="19050">
            <a:solidFill>
              <a:srgbClr val="26B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AI Customer Segments</a:t>
            </a:r>
          </a:p>
        </p:txBody>
      </p:sp>
      <p:sp>
        <p:nvSpPr>
          <p:cNvPr id="19" name="Rounded Rectangle 18"/>
          <p:cNvSpPr/>
          <p:nvPr/>
        </p:nvSpPr>
        <p:spPr>
          <a:xfrm>
            <a:off x="4846320" y="4160520"/>
            <a:ext cx="2560320" cy="914400"/>
          </a:xfrm>
          <a:prstGeom prst="roundRect">
            <a:avLst/>
          </a:prstGeom>
          <a:solidFill>
            <a:srgbClr val="112036"/>
          </a:solidFill>
          <a:ln w="19050">
            <a:solidFill>
              <a:srgbClr val="F4B8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Value Comparison</a:t>
            </a:r>
          </a:p>
        </p:txBody>
      </p:sp>
      <p:sp>
        <p:nvSpPr>
          <p:cNvPr id="20" name="Rounded Rectangle 19"/>
          <p:cNvSpPr/>
          <p:nvPr/>
        </p:nvSpPr>
        <p:spPr>
          <a:xfrm>
            <a:off x="7863840" y="4160520"/>
            <a:ext cx="2560320" cy="914400"/>
          </a:xfrm>
          <a:prstGeom prst="roundRect">
            <a:avLst/>
          </a:prstGeom>
          <a:solidFill>
            <a:srgbClr val="112036"/>
          </a:solidFill>
          <a:ln w="19050">
            <a:solidFill>
              <a:srgbClr val="56C48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Business Actions</a:t>
            </a:r>
          </a:p>
        </p:txBody>
      </p:sp>
      <p:cxnSp>
        <p:nvCxnSpPr>
          <p:cNvPr id="21" name="Connector 20"/>
          <p:cNvCxnSpPr/>
          <p:nvPr/>
        </p:nvCxnSpPr>
        <p:spPr>
          <a:xfrm>
            <a:off x="4389120" y="4617720"/>
            <a:ext cx="457200"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06640" y="4617720"/>
            <a:ext cx="457200"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05 • EXPLORATION</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Exploratory Data Analysis</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First understand the commercial shape of the data.</a:t>
            </a:r>
          </a:p>
        </p:txBody>
      </p:sp>
      <p:sp>
        <p:nvSpPr>
          <p:cNvPr id="7" name="Rounded Rectangle 6"/>
          <p:cNvSpPr/>
          <p:nvPr/>
        </p:nvSpPr>
        <p:spPr>
          <a:xfrm>
            <a:off x="685800" y="1600200"/>
            <a:ext cx="6400800" cy="452628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09928"/>
            <a:ext cx="6035040" cy="274320"/>
          </a:xfrm>
          <a:prstGeom prst="rect">
            <a:avLst/>
          </a:prstGeom>
          <a:noFill/>
        </p:spPr>
        <p:txBody>
          <a:bodyPr wrap="none">
            <a:spAutoFit/>
          </a:bodyPr>
          <a:lstStyle/>
          <a:p>
            <a:pPr>
              <a:defRPr sz="1100" b="1">
                <a:solidFill>
                  <a:srgbClr val="0B1626"/>
                </a:solidFill>
                <a:latin typeface="Aptos"/>
              </a:defRPr>
            </a:pPr>
            <a:r>
              <a:t>Total Sales by Product</a:t>
            </a:r>
          </a:p>
        </p:txBody>
      </p:sp>
      <p:pic>
        <p:nvPicPr>
          <p:cNvPr id="9" name="Picture 8" descr="product_sales.png"/>
          <p:cNvPicPr>
            <a:picLocks noChangeAspect="1"/>
          </p:cNvPicPr>
          <p:nvPr/>
        </p:nvPicPr>
        <p:blipFill>
          <a:blip r:embed="rId2"/>
          <a:stretch>
            <a:fillRect/>
          </a:stretch>
        </p:blipFill>
        <p:spPr>
          <a:xfrm>
            <a:off x="795528" y="2039112"/>
            <a:ext cx="6181344" cy="3977640"/>
          </a:xfrm>
          <a:prstGeom prst="rect">
            <a:avLst/>
          </a:prstGeom>
        </p:spPr>
      </p:pic>
      <p:sp>
        <p:nvSpPr>
          <p:cNvPr id="10" name="TextBox 9"/>
          <p:cNvSpPr txBox="1"/>
          <p:nvPr/>
        </p:nvSpPr>
        <p:spPr>
          <a:xfrm>
            <a:off x="7315200" y="1828800"/>
            <a:ext cx="4023360" cy="3200400"/>
          </a:xfrm>
          <a:prstGeom prst="rect">
            <a:avLst/>
          </a:prstGeom>
          <a:noFill/>
        </p:spPr>
        <p:txBody>
          <a:bodyPr wrap="square">
            <a:spAutoFit/>
          </a:bodyPr>
          <a:lstStyle/>
          <a:p>
            <a:pPr>
              <a:spcAft>
                <a:spcPts val="900"/>
              </a:spcAft>
              <a:defRPr sz="1500">
                <a:solidFill>
                  <a:srgbClr val="E8EEF5"/>
                </a:solidFill>
                <a:latin typeface="Aptos"/>
              </a:defRPr>
            </a:pPr>
            <a:r>
              <a:t>• Aggregated sales at product level to identify high-contribution products.</a:t>
            </a:r>
          </a:p>
          <a:p>
            <a:pPr>
              <a:spcAft>
                <a:spcPts val="900"/>
              </a:spcAft>
              <a:defRPr sz="1500">
                <a:solidFill>
                  <a:srgbClr val="E8EEF5"/>
                </a:solidFill>
                <a:latin typeface="Aptos"/>
              </a:defRPr>
            </a:pPr>
            <a:r>
              <a:t>• Used visual analysis to move from raw transactions to interpretable patterns.</a:t>
            </a:r>
          </a:p>
          <a:p>
            <a:pPr>
              <a:spcAft>
                <a:spcPts val="900"/>
              </a:spcAft>
              <a:defRPr sz="1500">
                <a:solidFill>
                  <a:srgbClr val="E8EEF5"/>
                </a:solidFill>
                <a:latin typeface="Aptos"/>
              </a:defRPr>
            </a:pPr>
            <a:r>
              <a:t>• EDA provides the context needed before customer-level modeling.</a:t>
            </a:r>
          </a:p>
        </p:txBody>
      </p:sp>
      <p:sp>
        <p:nvSpPr>
          <p:cNvPr id="11" name="TextBox 10"/>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06 • CUSTOMER INTELLIGENCE</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RFM Analysis</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Three dimensions turn transaction history into customer behavior.</a:t>
            </a:r>
          </a:p>
        </p:txBody>
      </p:sp>
      <p:sp>
        <p:nvSpPr>
          <p:cNvPr id="7" name="Rounded Rectangle 6"/>
          <p:cNvSpPr/>
          <p:nvPr/>
        </p:nvSpPr>
        <p:spPr>
          <a:xfrm>
            <a:off x="731520" y="1737360"/>
            <a:ext cx="3383280" cy="182880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737360"/>
            <a:ext cx="338328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01952"/>
            <a:ext cx="3054096" cy="320040"/>
          </a:xfrm>
          <a:prstGeom prst="rect">
            <a:avLst/>
          </a:prstGeom>
          <a:noFill/>
        </p:spPr>
        <p:txBody>
          <a:bodyPr wrap="none">
            <a:spAutoFit/>
          </a:bodyPr>
          <a:lstStyle/>
          <a:p>
            <a:pPr>
              <a:defRPr sz="1100" b="1">
                <a:solidFill>
                  <a:srgbClr val="AAB8C9"/>
                </a:solidFill>
                <a:latin typeface="Aptos"/>
              </a:defRPr>
            </a:pPr>
            <a:r>
              <a:t>RECENCY</a:t>
            </a:r>
          </a:p>
        </p:txBody>
      </p:sp>
      <p:sp>
        <p:nvSpPr>
          <p:cNvPr id="10" name="TextBox 9"/>
          <p:cNvSpPr txBox="1"/>
          <p:nvPr/>
        </p:nvSpPr>
        <p:spPr>
          <a:xfrm>
            <a:off x="896112" y="2267712"/>
            <a:ext cx="3054096" cy="502920"/>
          </a:xfrm>
          <a:prstGeom prst="rect">
            <a:avLst/>
          </a:prstGeom>
          <a:noFill/>
        </p:spPr>
        <p:txBody>
          <a:bodyPr wrap="none">
            <a:spAutoFit/>
          </a:bodyPr>
          <a:lstStyle/>
          <a:p>
            <a:pPr>
              <a:defRPr sz="2400" b="1">
                <a:solidFill>
                  <a:srgbClr val="F5F8FC"/>
                </a:solidFill>
                <a:latin typeface="Aptos Display"/>
              </a:defRPr>
            </a:pPr>
            <a:r>
              <a:t>How recently?</a:t>
            </a:r>
          </a:p>
        </p:txBody>
      </p:sp>
      <p:sp>
        <p:nvSpPr>
          <p:cNvPr id="11" name="TextBox 10"/>
          <p:cNvSpPr txBox="1"/>
          <p:nvPr/>
        </p:nvSpPr>
        <p:spPr>
          <a:xfrm>
            <a:off x="896112" y="2761488"/>
            <a:ext cx="3054096" cy="685800"/>
          </a:xfrm>
          <a:prstGeom prst="rect">
            <a:avLst/>
          </a:prstGeom>
          <a:noFill/>
        </p:spPr>
        <p:txBody>
          <a:bodyPr wrap="none">
            <a:spAutoFit/>
          </a:bodyPr>
          <a:lstStyle/>
          <a:p>
            <a:pPr>
              <a:defRPr sz="1000">
                <a:solidFill>
                  <a:srgbClr val="AAB8C9"/>
                </a:solidFill>
                <a:latin typeface="Aptos"/>
              </a:defRPr>
            </a:pPr>
            <a:r>
              <a:t>Days since the customer's latest purchase.</a:t>
            </a:r>
          </a:p>
        </p:txBody>
      </p:sp>
      <p:sp>
        <p:nvSpPr>
          <p:cNvPr id="12" name="Rounded Rectangle 11"/>
          <p:cNvSpPr/>
          <p:nvPr/>
        </p:nvSpPr>
        <p:spPr>
          <a:xfrm>
            <a:off x="4389120" y="1737360"/>
            <a:ext cx="3383280" cy="182880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737360"/>
            <a:ext cx="338328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901952"/>
            <a:ext cx="3054096" cy="320040"/>
          </a:xfrm>
          <a:prstGeom prst="rect">
            <a:avLst/>
          </a:prstGeom>
          <a:noFill/>
        </p:spPr>
        <p:txBody>
          <a:bodyPr wrap="none">
            <a:spAutoFit/>
          </a:bodyPr>
          <a:lstStyle/>
          <a:p>
            <a:pPr>
              <a:defRPr sz="1100" b="1">
                <a:solidFill>
                  <a:srgbClr val="AAB8C9"/>
                </a:solidFill>
                <a:latin typeface="Aptos"/>
              </a:defRPr>
            </a:pPr>
            <a:r>
              <a:t>FREQUENCY</a:t>
            </a:r>
          </a:p>
        </p:txBody>
      </p:sp>
      <p:sp>
        <p:nvSpPr>
          <p:cNvPr id="15" name="TextBox 14"/>
          <p:cNvSpPr txBox="1"/>
          <p:nvPr/>
        </p:nvSpPr>
        <p:spPr>
          <a:xfrm>
            <a:off x="4553712" y="2267712"/>
            <a:ext cx="3054096" cy="502920"/>
          </a:xfrm>
          <a:prstGeom prst="rect">
            <a:avLst/>
          </a:prstGeom>
          <a:noFill/>
        </p:spPr>
        <p:txBody>
          <a:bodyPr wrap="none">
            <a:spAutoFit/>
          </a:bodyPr>
          <a:lstStyle/>
          <a:p>
            <a:pPr>
              <a:defRPr sz="2400" b="1">
                <a:solidFill>
                  <a:srgbClr val="F5F8FC"/>
                </a:solidFill>
                <a:latin typeface="Aptos Display"/>
              </a:defRPr>
            </a:pPr>
            <a:r>
              <a:t>How often?</a:t>
            </a:r>
          </a:p>
        </p:txBody>
      </p:sp>
      <p:sp>
        <p:nvSpPr>
          <p:cNvPr id="16" name="TextBox 15"/>
          <p:cNvSpPr txBox="1"/>
          <p:nvPr/>
        </p:nvSpPr>
        <p:spPr>
          <a:xfrm>
            <a:off x="4553712" y="2761488"/>
            <a:ext cx="3054096" cy="685800"/>
          </a:xfrm>
          <a:prstGeom prst="rect">
            <a:avLst/>
          </a:prstGeom>
          <a:noFill/>
        </p:spPr>
        <p:txBody>
          <a:bodyPr wrap="none">
            <a:spAutoFit/>
          </a:bodyPr>
          <a:lstStyle/>
          <a:p>
            <a:pPr>
              <a:defRPr sz="1000">
                <a:solidFill>
                  <a:srgbClr val="AAB8C9"/>
                </a:solidFill>
                <a:latin typeface="Aptos"/>
              </a:defRPr>
            </a:pPr>
            <a:r>
              <a:t>Number of distinct purchase transactions.</a:t>
            </a:r>
          </a:p>
        </p:txBody>
      </p:sp>
      <p:sp>
        <p:nvSpPr>
          <p:cNvPr id="17" name="Rounded Rectangle 16"/>
          <p:cNvSpPr/>
          <p:nvPr/>
        </p:nvSpPr>
        <p:spPr>
          <a:xfrm>
            <a:off x="8046720" y="1737360"/>
            <a:ext cx="3383280" cy="182880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6720" y="1737360"/>
            <a:ext cx="3383280" cy="64008"/>
          </a:xfrm>
          <a:prstGeom prst="rect">
            <a:avLst/>
          </a:prstGeom>
          <a:solidFill>
            <a:srgbClr val="56C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1901952"/>
            <a:ext cx="3054096" cy="320040"/>
          </a:xfrm>
          <a:prstGeom prst="rect">
            <a:avLst/>
          </a:prstGeom>
          <a:noFill/>
        </p:spPr>
        <p:txBody>
          <a:bodyPr wrap="none">
            <a:spAutoFit/>
          </a:bodyPr>
          <a:lstStyle/>
          <a:p>
            <a:pPr>
              <a:defRPr sz="1100" b="1">
                <a:solidFill>
                  <a:srgbClr val="AAB8C9"/>
                </a:solidFill>
                <a:latin typeface="Aptos"/>
              </a:defRPr>
            </a:pPr>
            <a:r>
              <a:t>MONETARY</a:t>
            </a:r>
          </a:p>
        </p:txBody>
      </p:sp>
      <p:sp>
        <p:nvSpPr>
          <p:cNvPr id="20" name="TextBox 19"/>
          <p:cNvSpPr txBox="1"/>
          <p:nvPr/>
        </p:nvSpPr>
        <p:spPr>
          <a:xfrm>
            <a:off x="8211312" y="2267712"/>
            <a:ext cx="3054096" cy="502920"/>
          </a:xfrm>
          <a:prstGeom prst="rect">
            <a:avLst/>
          </a:prstGeom>
          <a:noFill/>
        </p:spPr>
        <p:txBody>
          <a:bodyPr wrap="none">
            <a:spAutoFit/>
          </a:bodyPr>
          <a:lstStyle/>
          <a:p>
            <a:pPr>
              <a:defRPr sz="2400" b="1">
                <a:solidFill>
                  <a:srgbClr val="F5F8FC"/>
                </a:solidFill>
                <a:latin typeface="Aptos Display"/>
              </a:defRPr>
            </a:pPr>
            <a:r>
              <a:t>How much?</a:t>
            </a:r>
          </a:p>
        </p:txBody>
      </p:sp>
      <p:sp>
        <p:nvSpPr>
          <p:cNvPr id="21" name="TextBox 20"/>
          <p:cNvSpPr txBox="1"/>
          <p:nvPr/>
        </p:nvSpPr>
        <p:spPr>
          <a:xfrm>
            <a:off x="8211312" y="2761488"/>
            <a:ext cx="3054096" cy="685800"/>
          </a:xfrm>
          <a:prstGeom prst="rect">
            <a:avLst/>
          </a:prstGeom>
          <a:noFill/>
        </p:spPr>
        <p:txBody>
          <a:bodyPr wrap="none">
            <a:spAutoFit/>
          </a:bodyPr>
          <a:lstStyle/>
          <a:p>
            <a:pPr>
              <a:defRPr sz="1000">
                <a:solidFill>
                  <a:srgbClr val="AAB8C9"/>
                </a:solidFill>
                <a:latin typeface="Aptos"/>
              </a:defRPr>
            </a:pPr>
            <a:r>
              <a:t>Total monetary value generated by the customer.</a:t>
            </a:r>
          </a:p>
        </p:txBody>
      </p:sp>
      <p:sp>
        <p:nvSpPr>
          <p:cNvPr id="22" name="TextBox 21"/>
          <p:cNvSpPr txBox="1"/>
          <p:nvPr/>
        </p:nvSpPr>
        <p:spPr>
          <a:xfrm>
            <a:off x="914400" y="4160520"/>
            <a:ext cx="10058400" cy="1554480"/>
          </a:xfrm>
          <a:prstGeom prst="rect">
            <a:avLst/>
          </a:prstGeom>
          <a:noFill/>
        </p:spPr>
        <p:txBody>
          <a:bodyPr wrap="square">
            <a:spAutoFit/>
          </a:bodyPr>
          <a:lstStyle/>
          <a:p>
            <a:pPr>
              <a:spcAft>
                <a:spcPts val="900"/>
              </a:spcAft>
              <a:defRPr sz="1600">
                <a:solidFill>
                  <a:srgbClr val="E8EEF5"/>
                </a:solidFill>
                <a:latin typeface="Aptos"/>
              </a:defRPr>
            </a:pPr>
            <a:r>
              <a:t>• RFM scores were converted into a combined customer score.</a:t>
            </a:r>
          </a:p>
          <a:p>
            <a:pPr>
              <a:spcAft>
                <a:spcPts val="900"/>
              </a:spcAft>
              <a:defRPr sz="1600">
                <a:solidFill>
                  <a:srgbClr val="E8EEF5"/>
                </a:solidFill>
                <a:latin typeface="Aptos"/>
              </a:defRPr>
            </a:pPr>
            <a:r>
              <a:t>• The scores provide a consistent behavioral foundation for segmentation.</a:t>
            </a:r>
          </a:p>
          <a:p>
            <a:pPr>
              <a:spcAft>
                <a:spcPts val="900"/>
              </a:spcAft>
              <a:defRPr sz="1600">
                <a:solidFill>
                  <a:srgbClr val="E8EEF5"/>
                </a:solidFill>
                <a:latin typeface="Aptos"/>
              </a:defRPr>
            </a:pPr>
            <a:r>
              <a:t>• Higher-value combinations indicate stronger engagement and commercial value.</a:t>
            </a:r>
          </a:p>
        </p:txBody>
      </p:sp>
      <p:sp>
        <p:nvSpPr>
          <p:cNvPr id="23" name="TextBox 22"/>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07 • MACHINE LEARNING</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K-Means Customer Clustering</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Machine learning groups customers with similar RFM behavior.</a:t>
            </a:r>
          </a:p>
        </p:txBody>
      </p:sp>
      <p:sp>
        <p:nvSpPr>
          <p:cNvPr id="7" name="Rounded Rectangle 6"/>
          <p:cNvSpPr/>
          <p:nvPr/>
        </p:nvSpPr>
        <p:spPr>
          <a:xfrm>
            <a:off x="640080" y="1600200"/>
            <a:ext cx="5577840" cy="438912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09928"/>
            <a:ext cx="5212079" cy="274320"/>
          </a:xfrm>
          <a:prstGeom prst="rect">
            <a:avLst/>
          </a:prstGeom>
          <a:noFill/>
        </p:spPr>
        <p:txBody>
          <a:bodyPr wrap="none">
            <a:spAutoFit/>
          </a:bodyPr>
          <a:lstStyle/>
          <a:p>
            <a:pPr>
              <a:defRPr sz="1100" b="1">
                <a:solidFill>
                  <a:srgbClr val="0B1626"/>
                </a:solidFill>
                <a:latin typeface="Aptos"/>
              </a:defRPr>
            </a:pPr>
            <a:r>
              <a:t>Elbow Method</a:t>
            </a:r>
          </a:p>
        </p:txBody>
      </p:sp>
      <p:pic>
        <p:nvPicPr>
          <p:cNvPr id="9" name="Picture 8" descr="elbow_method.png"/>
          <p:cNvPicPr>
            <a:picLocks noChangeAspect="1"/>
          </p:cNvPicPr>
          <p:nvPr/>
        </p:nvPicPr>
        <p:blipFill>
          <a:blip r:embed="rId2"/>
          <a:stretch>
            <a:fillRect/>
          </a:stretch>
        </p:blipFill>
        <p:spPr>
          <a:xfrm>
            <a:off x="749808" y="2039112"/>
            <a:ext cx="5358383" cy="3840480"/>
          </a:xfrm>
          <a:prstGeom prst="rect">
            <a:avLst/>
          </a:prstGeom>
        </p:spPr>
      </p:pic>
      <p:sp>
        <p:nvSpPr>
          <p:cNvPr id="10" name="TextBox 9"/>
          <p:cNvSpPr txBox="1"/>
          <p:nvPr/>
        </p:nvSpPr>
        <p:spPr>
          <a:xfrm>
            <a:off x="6629400" y="1828800"/>
            <a:ext cx="4572000" cy="3474720"/>
          </a:xfrm>
          <a:prstGeom prst="rect">
            <a:avLst/>
          </a:prstGeom>
          <a:noFill/>
        </p:spPr>
        <p:txBody>
          <a:bodyPr wrap="square">
            <a:spAutoFit/>
          </a:bodyPr>
          <a:lstStyle/>
          <a:p>
            <a:pPr>
              <a:spcAft>
                <a:spcPts val="900"/>
              </a:spcAft>
              <a:defRPr sz="1500">
                <a:solidFill>
                  <a:srgbClr val="E8EEF5"/>
                </a:solidFill>
                <a:latin typeface="Aptos"/>
              </a:defRPr>
            </a:pPr>
            <a:r>
              <a:t>• Standardized Recency, Frequency and Monetary features before clustering.</a:t>
            </a:r>
          </a:p>
          <a:p>
            <a:pPr>
              <a:spcAft>
                <a:spcPts val="900"/>
              </a:spcAft>
              <a:defRPr sz="1500">
                <a:solidFill>
                  <a:srgbClr val="E8EEF5"/>
                </a:solidFill>
                <a:latin typeface="Aptos"/>
              </a:defRPr>
            </a:pPr>
            <a:r>
              <a:t>• Used the Elbow Method to evaluate the appropriate cluster count.</a:t>
            </a:r>
          </a:p>
          <a:p>
            <a:pPr>
              <a:spcAft>
                <a:spcPts val="900"/>
              </a:spcAft>
              <a:defRPr sz="1500">
                <a:solidFill>
                  <a:srgbClr val="E8EEF5"/>
                </a:solidFill>
                <a:latin typeface="Aptos"/>
              </a:defRPr>
            </a:pPr>
            <a:r>
              <a:t>• Final workflow uses 4 clusters for business interpretation.</a:t>
            </a:r>
          </a:p>
        </p:txBody>
      </p:sp>
      <p:sp>
        <p:nvSpPr>
          <p:cNvPr id="11" name="TextBox 10"/>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08 • SEGMENTATION</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AI-Based Customer Segmentation</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Clusters are translated into business-friendly customer groups.</a:t>
            </a:r>
          </a:p>
        </p:txBody>
      </p:sp>
      <p:sp>
        <p:nvSpPr>
          <p:cNvPr id="7" name="Rounded Rectangle 6"/>
          <p:cNvSpPr/>
          <p:nvPr/>
        </p:nvSpPr>
        <p:spPr>
          <a:xfrm>
            <a:off x="640080" y="1600200"/>
            <a:ext cx="6217920" cy="448056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709928"/>
            <a:ext cx="5852159" cy="274320"/>
          </a:xfrm>
          <a:prstGeom prst="rect">
            <a:avLst/>
          </a:prstGeom>
          <a:noFill/>
        </p:spPr>
        <p:txBody>
          <a:bodyPr wrap="none">
            <a:spAutoFit/>
          </a:bodyPr>
          <a:lstStyle/>
          <a:p>
            <a:pPr>
              <a:defRPr sz="1100" b="1">
                <a:solidFill>
                  <a:srgbClr val="0B1626"/>
                </a:solidFill>
                <a:latin typeface="Aptos"/>
              </a:defRPr>
            </a:pPr>
            <a:r>
              <a:t>Customer Segment Distribution</a:t>
            </a:r>
          </a:p>
        </p:txBody>
      </p:sp>
      <p:pic>
        <p:nvPicPr>
          <p:cNvPr id="9" name="Picture 8" descr="ai_segment_distribution.png"/>
          <p:cNvPicPr>
            <a:picLocks noChangeAspect="1"/>
          </p:cNvPicPr>
          <p:nvPr/>
        </p:nvPicPr>
        <p:blipFill>
          <a:blip r:embed="rId2"/>
          <a:stretch>
            <a:fillRect/>
          </a:stretch>
        </p:blipFill>
        <p:spPr>
          <a:xfrm>
            <a:off x="749808" y="2039112"/>
            <a:ext cx="5998464" cy="3931920"/>
          </a:xfrm>
          <a:prstGeom prst="rect">
            <a:avLst/>
          </a:prstGeom>
        </p:spPr>
      </p:pic>
      <p:sp>
        <p:nvSpPr>
          <p:cNvPr id="10" name="Rounded Rectangle 9"/>
          <p:cNvSpPr/>
          <p:nvPr/>
        </p:nvSpPr>
        <p:spPr>
          <a:xfrm>
            <a:off x="7178040" y="1508760"/>
            <a:ext cx="4389120" cy="9601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78040" y="1508760"/>
            <a:ext cx="438912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42631" y="1673351"/>
            <a:ext cx="4059935" cy="320040"/>
          </a:xfrm>
          <a:prstGeom prst="rect">
            <a:avLst/>
          </a:prstGeom>
          <a:noFill/>
        </p:spPr>
        <p:txBody>
          <a:bodyPr wrap="none">
            <a:spAutoFit/>
          </a:bodyPr>
          <a:lstStyle/>
          <a:p>
            <a:pPr>
              <a:defRPr sz="1100" b="1">
                <a:solidFill>
                  <a:srgbClr val="AAB8C9"/>
                </a:solidFill>
                <a:latin typeface="Aptos"/>
              </a:defRPr>
            </a:pPr>
            <a:r>
              <a:t>VIP</a:t>
            </a:r>
          </a:p>
        </p:txBody>
      </p:sp>
      <p:sp>
        <p:nvSpPr>
          <p:cNvPr id="13" name="TextBox 12"/>
          <p:cNvSpPr txBox="1"/>
          <p:nvPr/>
        </p:nvSpPr>
        <p:spPr>
          <a:xfrm>
            <a:off x="7342631" y="2039112"/>
            <a:ext cx="4059935" cy="502920"/>
          </a:xfrm>
          <a:prstGeom prst="rect">
            <a:avLst/>
          </a:prstGeom>
          <a:noFill/>
        </p:spPr>
        <p:txBody>
          <a:bodyPr wrap="none">
            <a:spAutoFit/>
          </a:bodyPr>
          <a:lstStyle/>
          <a:p>
            <a:pPr>
              <a:defRPr sz="2400" b="1">
                <a:solidFill>
                  <a:srgbClr val="F5F8FC"/>
                </a:solidFill>
                <a:latin typeface="Aptos Display"/>
              </a:defRPr>
            </a:pPr>
            <a:r>
              <a:t>139 customers</a:t>
            </a:r>
          </a:p>
        </p:txBody>
      </p:sp>
      <p:sp>
        <p:nvSpPr>
          <p:cNvPr id="14" name="TextBox 13"/>
          <p:cNvSpPr txBox="1"/>
          <p:nvPr/>
        </p:nvSpPr>
        <p:spPr>
          <a:xfrm>
            <a:off x="7342631" y="2532888"/>
            <a:ext cx="4059935" cy="-182879"/>
          </a:xfrm>
          <a:prstGeom prst="rect">
            <a:avLst/>
          </a:prstGeom>
          <a:noFill/>
        </p:spPr>
        <p:txBody>
          <a:bodyPr wrap="none">
            <a:spAutoFit/>
          </a:bodyPr>
          <a:lstStyle/>
          <a:p>
            <a:pPr>
              <a:defRPr sz="1000">
                <a:solidFill>
                  <a:srgbClr val="AAB8C9"/>
                </a:solidFill>
                <a:latin typeface="Aptos"/>
              </a:defRPr>
            </a:pPr>
            <a:r>
              <a:t>Highest average CLV</a:t>
            </a:r>
          </a:p>
        </p:txBody>
      </p:sp>
      <p:sp>
        <p:nvSpPr>
          <p:cNvPr id="15" name="Rounded Rectangle 14"/>
          <p:cNvSpPr/>
          <p:nvPr/>
        </p:nvSpPr>
        <p:spPr>
          <a:xfrm>
            <a:off x="7178040" y="2651760"/>
            <a:ext cx="4389120" cy="9601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78040" y="2651760"/>
            <a:ext cx="438912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42631" y="2816352"/>
            <a:ext cx="4059935" cy="320040"/>
          </a:xfrm>
          <a:prstGeom prst="rect">
            <a:avLst/>
          </a:prstGeom>
          <a:noFill/>
        </p:spPr>
        <p:txBody>
          <a:bodyPr wrap="none">
            <a:spAutoFit/>
          </a:bodyPr>
          <a:lstStyle/>
          <a:p>
            <a:pPr>
              <a:defRPr sz="1100" b="1">
                <a:solidFill>
                  <a:srgbClr val="AAB8C9"/>
                </a:solidFill>
                <a:latin typeface="Aptos"/>
              </a:defRPr>
            </a:pPr>
            <a:r>
              <a:t>LOYAL</a:t>
            </a:r>
          </a:p>
        </p:txBody>
      </p:sp>
      <p:sp>
        <p:nvSpPr>
          <p:cNvPr id="18" name="TextBox 17"/>
          <p:cNvSpPr txBox="1"/>
          <p:nvPr/>
        </p:nvSpPr>
        <p:spPr>
          <a:xfrm>
            <a:off x="7342631" y="3182112"/>
            <a:ext cx="4059935" cy="502920"/>
          </a:xfrm>
          <a:prstGeom prst="rect">
            <a:avLst/>
          </a:prstGeom>
          <a:noFill/>
        </p:spPr>
        <p:txBody>
          <a:bodyPr wrap="none">
            <a:spAutoFit/>
          </a:bodyPr>
          <a:lstStyle/>
          <a:p>
            <a:pPr>
              <a:defRPr sz="2400" b="1">
                <a:solidFill>
                  <a:srgbClr val="F5F8FC"/>
                </a:solidFill>
                <a:latin typeface="Aptos Display"/>
              </a:defRPr>
            </a:pPr>
            <a:r>
              <a:t>264 customers</a:t>
            </a:r>
          </a:p>
        </p:txBody>
      </p:sp>
      <p:sp>
        <p:nvSpPr>
          <p:cNvPr id="19" name="TextBox 18"/>
          <p:cNvSpPr txBox="1"/>
          <p:nvPr/>
        </p:nvSpPr>
        <p:spPr>
          <a:xfrm>
            <a:off x="7342631" y="3675887"/>
            <a:ext cx="4059935" cy="-182879"/>
          </a:xfrm>
          <a:prstGeom prst="rect">
            <a:avLst/>
          </a:prstGeom>
          <a:noFill/>
        </p:spPr>
        <p:txBody>
          <a:bodyPr wrap="none">
            <a:spAutoFit/>
          </a:bodyPr>
          <a:lstStyle/>
          <a:p>
            <a:pPr>
              <a:defRPr sz="1000">
                <a:solidFill>
                  <a:srgbClr val="AAB8C9"/>
                </a:solidFill>
                <a:latin typeface="Aptos"/>
              </a:defRPr>
            </a:pPr>
            <a:r>
              <a:t>Largest high-value group</a:t>
            </a:r>
          </a:p>
        </p:txBody>
      </p:sp>
      <p:sp>
        <p:nvSpPr>
          <p:cNvPr id="20" name="Rounded Rectangle 19"/>
          <p:cNvSpPr/>
          <p:nvPr/>
        </p:nvSpPr>
        <p:spPr>
          <a:xfrm>
            <a:off x="7178040" y="3794760"/>
            <a:ext cx="4389120" cy="9601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78040" y="3794760"/>
            <a:ext cx="438912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42631" y="3959352"/>
            <a:ext cx="4059935" cy="320040"/>
          </a:xfrm>
          <a:prstGeom prst="rect">
            <a:avLst/>
          </a:prstGeom>
          <a:noFill/>
        </p:spPr>
        <p:txBody>
          <a:bodyPr wrap="none">
            <a:spAutoFit/>
          </a:bodyPr>
          <a:lstStyle/>
          <a:p>
            <a:pPr>
              <a:defRPr sz="1100" b="1">
                <a:solidFill>
                  <a:srgbClr val="AAB8C9"/>
                </a:solidFill>
                <a:latin typeface="Aptos"/>
              </a:defRPr>
            </a:pPr>
            <a:r>
              <a:t>LOW VALUE</a:t>
            </a:r>
          </a:p>
        </p:txBody>
      </p:sp>
      <p:sp>
        <p:nvSpPr>
          <p:cNvPr id="23" name="TextBox 22"/>
          <p:cNvSpPr txBox="1"/>
          <p:nvPr/>
        </p:nvSpPr>
        <p:spPr>
          <a:xfrm>
            <a:off x="7342631" y="4325112"/>
            <a:ext cx="4059935" cy="502920"/>
          </a:xfrm>
          <a:prstGeom prst="rect">
            <a:avLst/>
          </a:prstGeom>
          <a:noFill/>
        </p:spPr>
        <p:txBody>
          <a:bodyPr wrap="none">
            <a:spAutoFit/>
          </a:bodyPr>
          <a:lstStyle/>
          <a:p>
            <a:pPr>
              <a:defRPr sz="2400" b="1">
                <a:solidFill>
                  <a:srgbClr val="F5F8FC"/>
                </a:solidFill>
                <a:latin typeface="Aptos Display"/>
              </a:defRPr>
            </a:pPr>
            <a:r>
              <a:t>251 customers</a:t>
            </a:r>
          </a:p>
        </p:txBody>
      </p:sp>
      <p:sp>
        <p:nvSpPr>
          <p:cNvPr id="24" name="TextBox 23"/>
          <p:cNvSpPr txBox="1"/>
          <p:nvPr/>
        </p:nvSpPr>
        <p:spPr>
          <a:xfrm>
            <a:off x="7342631" y="4818888"/>
            <a:ext cx="4059935" cy="-182879"/>
          </a:xfrm>
          <a:prstGeom prst="rect">
            <a:avLst/>
          </a:prstGeom>
          <a:noFill/>
        </p:spPr>
        <p:txBody>
          <a:bodyPr wrap="none">
            <a:spAutoFit/>
          </a:bodyPr>
          <a:lstStyle/>
          <a:p>
            <a:pPr>
              <a:defRPr sz="1000">
                <a:solidFill>
                  <a:srgbClr val="AAB8C9"/>
                </a:solidFill>
                <a:latin typeface="Aptos"/>
              </a:defRPr>
            </a:pPr>
            <a:r>
              <a:t>Growth / efficiency focus</a:t>
            </a:r>
          </a:p>
        </p:txBody>
      </p:sp>
      <p:sp>
        <p:nvSpPr>
          <p:cNvPr id="25" name="Rounded Rectangle 24"/>
          <p:cNvSpPr/>
          <p:nvPr/>
        </p:nvSpPr>
        <p:spPr>
          <a:xfrm>
            <a:off x="7178040" y="4937760"/>
            <a:ext cx="4389120" cy="9601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78040" y="4937760"/>
            <a:ext cx="4389120" cy="64008"/>
          </a:xfrm>
          <a:prstGeom prst="rect">
            <a:avLst/>
          </a:prstGeom>
          <a:solidFill>
            <a:srgbClr val="E86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42631" y="5102352"/>
            <a:ext cx="4059935" cy="320040"/>
          </a:xfrm>
          <a:prstGeom prst="rect">
            <a:avLst/>
          </a:prstGeom>
          <a:noFill/>
        </p:spPr>
        <p:txBody>
          <a:bodyPr wrap="none">
            <a:spAutoFit/>
          </a:bodyPr>
          <a:lstStyle/>
          <a:p>
            <a:pPr>
              <a:defRPr sz="1100" b="1">
                <a:solidFill>
                  <a:srgbClr val="AAB8C9"/>
                </a:solidFill>
                <a:latin typeface="Aptos"/>
              </a:defRPr>
            </a:pPr>
            <a:r>
              <a:t>AT RISK</a:t>
            </a:r>
          </a:p>
        </p:txBody>
      </p:sp>
      <p:sp>
        <p:nvSpPr>
          <p:cNvPr id="28" name="TextBox 27"/>
          <p:cNvSpPr txBox="1"/>
          <p:nvPr/>
        </p:nvSpPr>
        <p:spPr>
          <a:xfrm>
            <a:off x="7342631" y="5468112"/>
            <a:ext cx="4059935" cy="502920"/>
          </a:xfrm>
          <a:prstGeom prst="rect">
            <a:avLst/>
          </a:prstGeom>
          <a:noFill/>
        </p:spPr>
        <p:txBody>
          <a:bodyPr wrap="none">
            <a:spAutoFit/>
          </a:bodyPr>
          <a:lstStyle/>
          <a:p>
            <a:pPr>
              <a:defRPr sz="2400" b="1">
                <a:solidFill>
                  <a:srgbClr val="F5F8FC"/>
                </a:solidFill>
                <a:latin typeface="Aptos Display"/>
              </a:defRPr>
            </a:pPr>
            <a:r>
              <a:t>96 customers</a:t>
            </a:r>
          </a:p>
        </p:txBody>
      </p:sp>
      <p:sp>
        <p:nvSpPr>
          <p:cNvPr id="29" name="TextBox 28"/>
          <p:cNvSpPr txBox="1"/>
          <p:nvPr/>
        </p:nvSpPr>
        <p:spPr>
          <a:xfrm>
            <a:off x="7342631" y="5961888"/>
            <a:ext cx="4059935" cy="-182879"/>
          </a:xfrm>
          <a:prstGeom prst="rect">
            <a:avLst/>
          </a:prstGeom>
          <a:noFill/>
        </p:spPr>
        <p:txBody>
          <a:bodyPr wrap="none">
            <a:spAutoFit/>
          </a:bodyPr>
          <a:lstStyle/>
          <a:p>
            <a:pPr>
              <a:defRPr sz="1000">
                <a:solidFill>
                  <a:srgbClr val="AAB8C9"/>
                </a:solidFill>
                <a:latin typeface="Aptos"/>
              </a:defRPr>
            </a:pPr>
            <a:r>
              <a:t>Re-engagement focus</a:t>
            </a:r>
          </a:p>
        </p:txBody>
      </p:sp>
      <p:sp>
        <p:nvSpPr>
          <p:cNvPr id="30" name="TextBox 29"/>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09 • VALUE</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Customer Lifetime Value</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Move from historical behavior to estimated customer value.</a:t>
            </a:r>
          </a:p>
        </p:txBody>
      </p:sp>
      <p:sp>
        <p:nvSpPr>
          <p:cNvPr id="7" name="Rounded Rectangle 6"/>
          <p:cNvSpPr/>
          <p:nvPr/>
        </p:nvSpPr>
        <p:spPr>
          <a:xfrm>
            <a:off x="640080" y="1554480"/>
            <a:ext cx="5577840" cy="452628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664207"/>
            <a:ext cx="5212079" cy="274320"/>
          </a:xfrm>
          <a:prstGeom prst="rect">
            <a:avLst/>
          </a:prstGeom>
          <a:noFill/>
        </p:spPr>
        <p:txBody>
          <a:bodyPr wrap="none">
            <a:spAutoFit/>
          </a:bodyPr>
          <a:lstStyle/>
          <a:p>
            <a:pPr>
              <a:defRPr sz="1100" b="1">
                <a:solidFill>
                  <a:srgbClr val="0B1626"/>
                </a:solidFill>
                <a:latin typeface="Aptos"/>
              </a:defRPr>
            </a:pPr>
            <a:r>
              <a:t>Estimated CLV Distribution</a:t>
            </a:r>
          </a:p>
        </p:txBody>
      </p:sp>
      <p:pic>
        <p:nvPicPr>
          <p:cNvPr id="9" name="Picture 8" descr="clv_distribution_final.png"/>
          <p:cNvPicPr>
            <a:picLocks noChangeAspect="1"/>
          </p:cNvPicPr>
          <p:nvPr/>
        </p:nvPicPr>
        <p:blipFill>
          <a:blip r:embed="rId2"/>
          <a:stretch>
            <a:fillRect/>
          </a:stretch>
        </p:blipFill>
        <p:spPr>
          <a:xfrm>
            <a:off x="749808" y="1993391"/>
            <a:ext cx="5358383" cy="3977640"/>
          </a:xfrm>
          <a:prstGeom prst="rect">
            <a:avLst/>
          </a:prstGeom>
        </p:spPr>
      </p:pic>
      <p:sp>
        <p:nvSpPr>
          <p:cNvPr id="10" name="Rounded Rectangle 9"/>
          <p:cNvSpPr/>
          <p:nvPr/>
        </p:nvSpPr>
        <p:spPr>
          <a:xfrm>
            <a:off x="6400800" y="1554480"/>
            <a:ext cx="5120640" cy="452628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1664207"/>
            <a:ext cx="4754879" cy="274320"/>
          </a:xfrm>
          <a:prstGeom prst="rect">
            <a:avLst/>
          </a:prstGeom>
          <a:noFill/>
        </p:spPr>
        <p:txBody>
          <a:bodyPr wrap="none">
            <a:spAutoFit/>
          </a:bodyPr>
          <a:lstStyle/>
          <a:p>
            <a:pPr>
              <a:defRPr sz="1100" b="1">
                <a:solidFill>
                  <a:srgbClr val="0B1626"/>
                </a:solidFill>
                <a:latin typeface="Aptos"/>
              </a:defRPr>
            </a:pPr>
            <a:r>
              <a:t>Average CLV by AI Segment</a:t>
            </a:r>
          </a:p>
        </p:txBody>
      </p:sp>
      <p:pic>
        <p:nvPicPr>
          <p:cNvPr id="12" name="Picture 11" descr="avg_clv_by_segment.png"/>
          <p:cNvPicPr>
            <a:picLocks noChangeAspect="1"/>
          </p:cNvPicPr>
          <p:nvPr/>
        </p:nvPicPr>
        <p:blipFill>
          <a:blip r:embed="rId3"/>
          <a:stretch>
            <a:fillRect/>
          </a:stretch>
        </p:blipFill>
        <p:spPr>
          <a:xfrm>
            <a:off x="6510528" y="1993391"/>
            <a:ext cx="4901183" cy="3977640"/>
          </a:xfrm>
          <a:prstGeom prst="rect">
            <a:avLst/>
          </a:prstGeom>
        </p:spPr>
      </p:pic>
      <p:sp>
        <p:nvSpPr>
          <p:cNvPr id="13" name="TextBox 12"/>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10 • RESULTS</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Key Results</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The segmentation becomes meaningful when connected to customer value.</a:t>
            </a:r>
          </a:p>
        </p:txBody>
      </p:sp>
      <p:sp>
        <p:nvSpPr>
          <p:cNvPr id="7" name="Rounded Rectangle 6"/>
          <p:cNvSpPr/>
          <p:nvPr/>
        </p:nvSpPr>
        <p:spPr>
          <a:xfrm>
            <a:off x="640080" y="1554480"/>
            <a:ext cx="256032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54480"/>
            <a:ext cx="256032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719072"/>
            <a:ext cx="2231136" cy="320040"/>
          </a:xfrm>
          <a:prstGeom prst="rect">
            <a:avLst/>
          </a:prstGeom>
          <a:noFill/>
        </p:spPr>
        <p:txBody>
          <a:bodyPr wrap="none">
            <a:spAutoFit/>
          </a:bodyPr>
          <a:lstStyle/>
          <a:p>
            <a:pPr>
              <a:defRPr sz="1100" b="1">
                <a:solidFill>
                  <a:srgbClr val="AAB8C9"/>
                </a:solidFill>
                <a:latin typeface="Aptos"/>
              </a:defRPr>
            </a:pPr>
            <a:r>
              <a:t>VIP CUSTOMERS</a:t>
            </a:r>
          </a:p>
        </p:txBody>
      </p:sp>
      <p:sp>
        <p:nvSpPr>
          <p:cNvPr id="10" name="TextBox 9"/>
          <p:cNvSpPr txBox="1"/>
          <p:nvPr/>
        </p:nvSpPr>
        <p:spPr>
          <a:xfrm>
            <a:off x="804671" y="2084831"/>
            <a:ext cx="2231136" cy="502920"/>
          </a:xfrm>
          <a:prstGeom prst="rect">
            <a:avLst/>
          </a:prstGeom>
          <a:noFill/>
        </p:spPr>
        <p:txBody>
          <a:bodyPr wrap="none">
            <a:spAutoFit/>
          </a:bodyPr>
          <a:lstStyle/>
          <a:p>
            <a:pPr>
              <a:defRPr sz="2400" b="1">
                <a:solidFill>
                  <a:srgbClr val="F5F8FC"/>
                </a:solidFill>
                <a:latin typeface="Aptos Display"/>
              </a:defRPr>
            </a:pPr>
            <a:r>
              <a:t>139</a:t>
            </a:r>
          </a:p>
        </p:txBody>
      </p:sp>
      <p:sp>
        <p:nvSpPr>
          <p:cNvPr id="11" name="TextBox 10"/>
          <p:cNvSpPr txBox="1"/>
          <p:nvPr/>
        </p:nvSpPr>
        <p:spPr>
          <a:xfrm>
            <a:off x="804671" y="2578608"/>
            <a:ext cx="2231136" cy="182879"/>
          </a:xfrm>
          <a:prstGeom prst="rect">
            <a:avLst/>
          </a:prstGeom>
          <a:noFill/>
        </p:spPr>
        <p:txBody>
          <a:bodyPr wrap="none">
            <a:spAutoFit/>
          </a:bodyPr>
          <a:lstStyle/>
          <a:p>
            <a:pPr>
              <a:defRPr sz="1000">
                <a:solidFill>
                  <a:srgbClr val="AAB8C9"/>
                </a:solidFill>
                <a:latin typeface="Aptos"/>
              </a:defRPr>
            </a:pPr>
            <a:r>
              <a:t>Avg CLV ₹2,80,898</a:t>
            </a:r>
          </a:p>
        </p:txBody>
      </p:sp>
      <p:sp>
        <p:nvSpPr>
          <p:cNvPr id="12" name="Rounded Rectangle 11"/>
          <p:cNvSpPr/>
          <p:nvPr/>
        </p:nvSpPr>
        <p:spPr>
          <a:xfrm>
            <a:off x="3429000" y="1554480"/>
            <a:ext cx="256032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554480"/>
            <a:ext cx="256032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3592" y="1719072"/>
            <a:ext cx="2231136" cy="320040"/>
          </a:xfrm>
          <a:prstGeom prst="rect">
            <a:avLst/>
          </a:prstGeom>
          <a:noFill/>
        </p:spPr>
        <p:txBody>
          <a:bodyPr wrap="none">
            <a:spAutoFit/>
          </a:bodyPr>
          <a:lstStyle/>
          <a:p>
            <a:pPr>
              <a:defRPr sz="1100" b="1">
                <a:solidFill>
                  <a:srgbClr val="AAB8C9"/>
                </a:solidFill>
                <a:latin typeface="Aptos"/>
              </a:defRPr>
            </a:pPr>
            <a:r>
              <a:t>LOYAL CUSTOMERS</a:t>
            </a:r>
          </a:p>
        </p:txBody>
      </p:sp>
      <p:sp>
        <p:nvSpPr>
          <p:cNvPr id="15" name="TextBox 14"/>
          <p:cNvSpPr txBox="1"/>
          <p:nvPr/>
        </p:nvSpPr>
        <p:spPr>
          <a:xfrm>
            <a:off x="3593592" y="2084831"/>
            <a:ext cx="2231136" cy="502920"/>
          </a:xfrm>
          <a:prstGeom prst="rect">
            <a:avLst/>
          </a:prstGeom>
          <a:noFill/>
        </p:spPr>
        <p:txBody>
          <a:bodyPr wrap="none">
            <a:spAutoFit/>
          </a:bodyPr>
          <a:lstStyle/>
          <a:p>
            <a:pPr>
              <a:defRPr sz="2400" b="1">
                <a:solidFill>
                  <a:srgbClr val="F5F8FC"/>
                </a:solidFill>
                <a:latin typeface="Aptos Display"/>
              </a:defRPr>
            </a:pPr>
            <a:r>
              <a:t>264</a:t>
            </a:r>
          </a:p>
        </p:txBody>
      </p:sp>
      <p:sp>
        <p:nvSpPr>
          <p:cNvPr id="16" name="TextBox 15"/>
          <p:cNvSpPr txBox="1"/>
          <p:nvPr/>
        </p:nvSpPr>
        <p:spPr>
          <a:xfrm>
            <a:off x="3593592" y="2578608"/>
            <a:ext cx="2231136" cy="182879"/>
          </a:xfrm>
          <a:prstGeom prst="rect">
            <a:avLst/>
          </a:prstGeom>
          <a:noFill/>
        </p:spPr>
        <p:txBody>
          <a:bodyPr wrap="none">
            <a:spAutoFit/>
          </a:bodyPr>
          <a:lstStyle/>
          <a:p>
            <a:pPr>
              <a:defRPr sz="1000">
                <a:solidFill>
                  <a:srgbClr val="AAB8C9"/>
                </a:solidFill>
                <a:latin typeface="Aptos"/>
              </a:defRPr>
            </a:pPr>
            <a:r>
              <a:t>Avg CLV ₹1,45,503</a:t>
            </a:r>
          </a:p>
        </p:txBody>
      </p:sp>
      <p:sp>
        <p:nvSpPr>
          <p:cNvPr id="17" name="Rounded Rectangle 16"/>
          <p:cNvSpPr/>
          <p:nvPr/>
        </p:nvSpPr>
        <p:spPr>
          <a:xfrm>
            <a:off x="6217920" y="1554480"/>
            <a:ext cx="256032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1554480"/>
            <a:ext cx="256032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82512" y="1719072"/>
            <a:ext cx="2231136" cy="320040"/>
          </a:xfrm>
          <a:prstGeom prst="rect">
            <a:avLst/>
          </a:prstGeom>
          <a:noFill/>
        </p:spPr>
        <p:txBody>
          <a:bodyPr wrap="none">
            <a:spAutoFit/>
          </a:bodyPr>
          <a:lstStyle/>
          <a:p>
            <a:pPr>
              <a:defRPr sz="1100" b="1">
                <a:solidFill>
                  <a:srgbClr val="AAB8C9"/>
                </a:solidFill>
                <a:latin typeface="Aptos"/>
              </a:defRPr>
            </a:pPr>
            <a:r>
              <a:t>LOW VALUE</a:t>
            </a:r>
          </a:p>
        </p:txBody>
      </p:sp>
      <p:sp>
        <p:nvSpPr>
          <p:cNvPr id="20" name="TextBox 19"/>
          <p:cNvSpPr txBox="1"/>
          <p:nvPr/>
        </p:nvSpPr>
        <p:spPr>
          <a:xfrm>
            <a:off x="6382512" y="2084831"/>
            <a:ext cx="2231136" cy="502920"/>
          </a:xfrm>
          <a:prstGeom prst="rect">
            <a:avLst/>
          </a:prstGeom>
          <a:noFill/>
        </p:spPr>
        <p:txBody>
          <a:bodyPr wrap="none">
            <a:spAutoFit/>
          </a:bodyPr>
          <a:lstStyle/>
          <a:p>
            <a:pPr>
              <a:defRPr sz="2400" b="1">
                <a:solidFill>
                  <a:srgbClr val="F5F8FC"/>
                </a:solidFill>
                <a:latin typeface="Aptos Display"/>
              </a:defRPr>
            </a:pPr>
            <a:r>
              <a:t>251</a:t>
            </a:r>
          </a:p>
        </p:txBody>
      </p:sp>
      <p:sp>
        <p:nvSpPr>
          <p:cNvPr id="21" name="TextBox 20"/>
          <p:cNvSpPr txBox="1"/>
          <p:nvPr/>
        </p:nvSpPr>
        <p:spPr>
          <a:xfrm>
            <a:off x="6382512" y="2578608"/>
            <a:ext cx="2231136" cy="182879"/>
          </a:xfrm>
          <a:prstGeom prst="rect">
            <a:avLst/>
          </a:prstGeom>
          <a:noFill/>
        </p:spPr>
        <p:txBody>
          <a:bodyPr wrap="none">
            <a:spAutoFit/>
          </a:bodyPr>
          <a:lstStyle/>
          <a:p>
            <a:pPr>
              <a:defRPr sz="1000">
                <a:solidFill>
                  <a:srgbClr val="AAB8C9"/>
                </a:solidFill>
                <a:latin typeface="Aptos"/>
              </a:defRPr>
            </a:pPr>
            <a:r>
              <a:t>Avg CLV ₹68,914</a:t>
            </a:r>
          </a:p>
        </p:txBody>
      </p:sp>
      <p:sp>
        <p:nvSpPr>
          <p:cNvPr id="22" name="Rounded Rectangle 21"/>
          <p:cNvSpPr/>
          <p:nvPr/>
        </p:nvSpPr>
        <p:spPr>
          <a:xfrm>
            <a:off x="9006840" y="1554480"/>
            <a:ext cx="256032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06840" y="1554480"/>
            <a:ext cx="2560320" cy="64008"/>
          </a:xfrm>
          <a:prstGeom prst="rect">
            <a:avLst/>
          </a:prstGeom>
          <a:solidFill>
            <a:srgbClr val="E86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71432" y="1719072"/>
            <a:ext cx="2231136" cy="320040"/>
          </a:xfrm>
          <a:prstGeom prst="rect">
            <a:avLst/>
          </a:prstGeom>
          <a:noFill/>
        </p:spPr>
        <p:txBody>
          <a:bodyPr wrap="none">
            <a:spAutoFit/>
          </a:bodyPr>
          <a:lstStyle/>
          <a:p>
            <a:pPr>
              <a:defRPr sz="1100" b="1">
                <a:solidFill>
                  <a:srgbClr val="AAB8C9"/>
                </a:solidFill>
                <a:latin typeface="Aptos"/>
              </a:defRPr>
            </a:pPr>
            <a:r>
              <a:t>AT RISK</a:t>
            </a:r>
          </a:p>
        </p:txBody>
      </p:sp>
      <p:sp>
        <p:nvSpPr>
          <p:cNvPr id="25" name="TextBox 24"/>
          <p:cNvSpPr txBox="1"/>
          <p:nvPr/>
        </p:nvSpPr>
        <p:spPr>
          <a:xfrm>
            <a:off x="9171432" y="2084831"/>
            <a:ext cx="2231136" cy="502920"/>
          </a:xfrm>
          <a:prstGeom prst="rect">
            <a:avLst/>
          </a:prstGeom>
          <a:noFill/>
        </p:spPr>
        <p:txBody>
          <a:bodyPr wrap="none">
            <a:spAutoFit/>
          </a:bodyPr>
          <a:lstStyle/>
          <a:p>
            <a:pPr>
              <a:defRPr sz="2400" b="1">
                <a:solidFill>
                  <a:srgbClr val="F5F8FC"/>
                </a:solidFill>
                <a:latin typeface="Aptos Display"/>
              </a:defRPr>
            </a:pPr>
            <a:r>
              <a:t>96</a:t>
            </a:r>
          </a:p>
        </p:txBody>
      </p:sp>
      <p:sp>
        <p:nvSpPr>
          <p:cNvPr id="26" name="TextBox 25"/>
          <p:cNvSpPr txBox="1"/>
          <p:nvPr/>
        </p:nvSpPr>
        <p:spPr>
          <a:xfrm>
            <a:off x="9171432" y="2578608"/>
            <a:ext cx="2231136" cy="182879"/>
          </a:xfrm>
          <a:prstGeom prst="rect">
            <a:avLst/>
          </a:prstGeom>
          <a:noFill/>
        </p:spPr>
        <p:txBody>
          <a:bodyPr wrap="none">
            <a:spAutoFit/>
          </a:bodyPr>
          <a:lstStyle/>
          <a:p>
            <a:pPr>
              <a:defRPr sz="1000">
                <a:solidFill>
                  <a:srgbClr val="AAB8C9"/>
                </a:solidFill>
                <a:latin typeface="Aptos"/>
              </a:defRPr>
            </a:pPr>
            <a:r>
              <a:t>Avg CLV ₹91,117</a:t>
            </a:r>
          </a:p>
        </p:txBody>
      </p:sp>
      <p:sp>
        <p:nvSpPr>
          <p:cNvPr id="27" name="Rounded Rectangle 26"/>
          <p:cNvSpPr/>
          <p:nvPr/>
        </p:nvSpPr>
        <p:spPr>
          <a:xfrm>
            <a:off x="914400" y="3246120"/>
            <a:ext cx="5669280" cy="265176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3355848"/>
            <a:ext cx="5303520" cy="274320"/>
          </a:xfrm>
          <a:prstGeom prst="rect">
            <a:avLst/>
          </a:prstGeom>
          <a:noFill/>
        </p:spPr>
        <p:txBody>
          <a:bodyPr wrap="none">
            <a:spAutoFit/>
          </a:bodyPr>
          <a:lstStyle/>
          <a:p>
            <a:pPr>
              <a:defRPr sz="1100" b="1">
                <a:solidFill>
                  <a:srgbClr val="0B1626"/>
                </a:solidFill>
                <a:latin typeface="Aptos"/>
              </a:defRPr>
            </a:pPr>
            <a:r>
              <a:t>Top 10 Customers by Estimated CLV</a:t>
            </a:r>
          </a:p>
        </p:txBody>
      </p:sp>
      <p:pic>
        <p:nvPicPr>
          <p:cNvPr id="29" name="Picture 28" descr="top10_clv.png"/>
          <p:cNvPicPr>
            <a:picLocks noChangeAspect="1"/>
          </p:cNvPicPr>
          <p:nvPr/>
        </p:nvPicPr>
        <p:blipFill>
          <a:blip r:embed="rId2"/>
          <a:stretch>
            <a:fillRect/>
          </a:stretch>
        </p:blipFill>
        <p:spPr>
          <a:xfrm>
            <a:off x="1024128" y="3685031"/>
            <a:ext cx="5449824" cy="2103120"/>
          </a:xfrm>
          <a:prstGeom prst="rect">
            <a:avLst/>
          </a:prstGeom>
        </p:spPr>
      </p:pic>
      <p:sp>
        <p:nvSpPr>
          <p:cNvPr id="30" name="TextBox 29"/>
          <p:cNvSpPr txBox="1"/>
          <p:nvPr/>
        </p:nvSpPr>
        <p:spPr>
          <a:xfrm>
            <a:off x="6995160" y="3429000"/>
            <a:ext cx="4297680" cy="2194560"/>
          </a:xfrm>
          <a:prstGeom prst="rect">
            <a:avLst/>
          </a:prstGeom>
          <a:noFill/>
        </p:spPr>
        <p:txBody>
          <a:bodyPr wrap="square">
            <a:spAutoFit/>
          </a:bodyPr>
          <a:lstStyle/>
          <a:p>
            <a:pPr>
              <a:spcAft>
                <a:spcPts val="900"/>
              </a:spcAft>
              <a:defRPr sz="1500">
                <a:solidFill>
                  <a:srgbClr val="E8EEF5"/>
                </a:solidFill>
                <a:latin typeface="Aptos"/>
              </a:defRPr>
            </a:pPr>
            <a:r>
              <a:t>• VIP customers have the highest average estimated CLV.</a:t>
            </a:r>
          </a:p>
          <a:p>
            <a:pPr>
              <a:spcAft>
                <a:spcPts val="900"/>
              </a:spcAft>
              <a:defRPr sz="1500">
                <a:solidFill>
                  <a:srgbClr val="E8EEF5"/>
                </a:solidFill>
                <a:latin typeface="Aptos"/>
              </a:defRPr>
            </a:pPr>
            <a:r>
              <a:t>• Loyal customers form the largest high-value segment.</a:t>
            </a:r>
          </a:p>
          <a:p>
            <a:pPr>
              <a:spcAft>
                <a:spcPts val="900"/>
              </a:spcAft>
              <a:defRPr sz="1500">
                <a:solidFill>
                  <a:srgbClr val="E8EEF5"/>
                </a:solidFill>
                <a:latin typeface="Aptos"/>
              </a:defRPr>
            </a:pPr>
            <a:r>
              <a:t>• At-Risk customers represent a targeted re-engagement opportunity.</a:t>
            </a:r>
          </a:p>
        </p:txBody>
      </p:sp>
      <p:sp>
        <p:nvSpPr>
          <p:cNvPr id="31" name="TextBox 30"/>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11 • ACTION</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Business Recommendations</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Turn customer intelligence into targeted action.</a:t>
            </a:r>
          </a:p>
        </p:txBody>
      </p:sp>
      <p:sp>
        <p:nvSpPr>
          <p:cNvPr id="7" name="Rounded Rectangle 6"/>
          <p:cNvSpPr/>
          <p:nvPr/>
        </p:nvSpPr>
        <p:spPr>
          <a:xfrm>
            <a:off x="640080" y="1600200"/>
            <a:ext cx="5303520" cy="14173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600200"/>
            <a:ext cx="530352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1764792"/>
            <a:ext cx="4974336" cy="320040"/>
          </a:xfrm>
          <a:prstGeom prst="rect">
            <a:avLst/>
          </a:prstGeom>
          <a:noFill/>
        </p:spPr>
        <p:txBody>
          <a:bodyPr wrap="none">
            <a:spAutoFit/>
          </a:bodyPr>
          <a:lstStyle/>
          <a:p>
            <a:pPr>
              <a:defRPr sz="1100" b="1">
                <a:solidFill>
                  <a:srgbClr val="AAB8C9"/>
                </a:solidFill>
                <a:latin typeface="Aptos"/>
              </a:defRPr>
            </a:pPr>
            <a:r>
              <a:t>VIP CUSTOMERS</a:t>
            </a:r>
          </a:p>
        </p:txBody>
      </p:sp>
      <p:sp>
        <p:nvSpPr>
          <p:cNvPr id="10" name="TextBox 9"/>
          <p:cNvSpPr txBox="1"/>
          <p:nvPr/>
        </p:nvSpPr>
        <p:spPr>
          <a:xfrm>
            <a:off x="804671" y="2130552"/>
            <a:ext cx="4974336" cy="502920"/>
          </a:xfrm>
          <a:prstGeom prst="rect">
            <a:avLst/>
          </a:prstGeom>
          <a:noFill/>
        </p:spPr>
        <p:txBody>
          <a:bodyPr wrap="none">
            <a:spAutoFit/>
          </a:bodyPr>
          <a:lstStyle/>
          <a:p>
            <a:pPr>
              <a:defRPr sz="2400" b="1">
                <a:solidFill>
                  <a:srgbClr val="F5F8FC"/>
                </a:solidFill>
                <a:latin typeface="Aptos Display"/>
              </a:defRPr>
            </a:pPr>
            <a:r>
              <a:t>Retain &amp; reward</a:t>
            </a:r>
          </a:p>
        </p:txBody>
      </p:sp>
      <p:sp>
        <p:nvSpPr>
          <p:cNvPr id="11" name="TextBox 10"/>
          <p:cNvSpPr txBox="1"/>
          <p:nvPr/>
        </p:nvSpPr>
        <p:spPr>
          <a:xfrm>
            <a:off x="804671" y="2624328"/>
            <a:ext cx="4974336" cy="274320"/>
          </a:xfrm>
          <a:prstGeom prst="rect">
            <a:avLst/>
          </a:prstGeom>
          <a:noFill/>
        </p:spPr>
        <p:txBody>
          <a:bodyPr wrap="none">
            <a:spAutoFit/>
          </a:bodyPr>
          <a:lstStyle/>
          <a:p>
            <a:pPr>
              <a:defRPr sz="1000">
                <a:solidFill>
                  <a:srgbClr val="AAB8C9"/>
                </a:solidFill>
                <a:latin typeface="Aptos"/>
              </a:defRPr>
            </a:pPr>
            <a:r>
              <a:t>Exclusive offers, premium products, loyalty rewards, personalized service.</a:t>
            </a:r>
          </a:p>
        </p:txBody>
      </p:sp>
      <p:sp>
        <p:nvSpPr>
          <p:cNvPr id="12" name="Rounded Rectangle 11"/>
          <p:cNvSpPr/>
          <p:nvPr/>
        </p:nvSpPr>
        <p:spPr>
          <a:xfrm>
            <a:off x="6217920" y="1600200"/>
            <a:ext cx="5303520" cy="14173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600200"/>
            <a:ext cx="530352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1764792"/>
            <a:ext cx="4974336" cy="320040"/>
          </a:xfrm>
          <a:prstGeom prst="rect">
            <a:avLst/>
          </a:prstGeom>
          <a:noFill/>
        </p:spPr>
        <p:txBody>
          <a:bodyPr wrap="none">
            <a:spAutoFit/>
          </a:bodyPr>
          <a:lstStyle/>
          <a:p>
            <a:pPr>
              <a:defRPr sz="1100" b="1">
                <a:solidFill>
                  <a:srgbClr val="AAB8C9"/>
                </a:solidFill>
                <a:latin typeface="Aptos"/>
              </a:defRPr>
            </a:pPr>
            <a:r>
              <a:t>LOYAL CUSTOMERS</a:t>
            </a:r>
          </a:p>
        </p:txBody>
      </p:sp>
      <p:sp>
        <p:nvSpPr>
          <p:cNvPr id="15" name="TextBox 14"/>
          <p:cNvSpPr txBox="1"/>
          <p:nvPr/>
        </p:nvSpPr>
        <p:spPr>
          <a:xfrm>
            <a:off x="6382512" y="2130552"/>
            <a:ext cx="4974336" cy="502920"/>
          </a:xfrm>
          <a:prstGeom prst="rect">
            <a:avLst/>
          </a:prstGeom>
          <a:noFill/>
        </p:spPr>
        <p:txBody>
          <a:bodyPr wrap="none">
            <a:spAutoFit/>
          </a:bodyPr>
          <a:lstStyle/>
          <a:p>
            <a:pPr>
              <a:defRPr sz="2400" b="1">
                <a:solidFill>
                  <a:srgbClr val="F5F8FC"/>
                </a:solidFill>
                <a:latin typeface="Aptos Display"/>
              </a:defRPr>
            </a:pPr>
            <a:r>
              <a:t>Grow value</a:t>
            </a:r>
          </a:p>
        </p:txBody>
      </p:sp>
      <p:sp>
        <p:nvSpPr>
          <p:cNvPr id="16" name="TextBox 15"/>
          <p:cNvSpPr txBox="1"/>
          <p:nvPr/>
        </p:nvSpPr>
        <p:spPr>
          <a:xfrm>
            <a:off x="6382512" y="2624328"/>
            <a:ext cx="4974336" cy="274320"/>
          </a:xfrm>
          <a:prstGeom prst="rect">
            <a:avLst/>
          </a:prstGeom>
          <a:noFill/>
        </p:spPr>
        <p:txBody>
          <a:bodyPr wrap="none">
            <a:spAutoFit/>
          </a:bodyPr>
          <a:lstStyle/>
          <a:p>
            <a:pPr>
              <a:defRPr sz="1000">
                <a:solidFill>
                  <a:srgbClr val="AAB8C9"/>
                </a:solidFill>
                <a:latin typeface="Aptos"/>
              </a:defRPr>
            </a:pPr>
            <a:r>
              <a:t>Loyalty programs, cross-selling, upselling, repeat-purchase offers.</a:t>
            </a:r>
          </a:p>
        </p:txBody>
      </p:sp>
      <p:sp>
        <p:nvSpPr>
          <p:cNvPr id="17" name="Rounded Rectangle 16"/>
          <p:cNvSpPr/>
          <p:nvPr/>
        </p:nvSpPr>
        <p:spPr>
          <a:xfrm>
            <a:off x="640080" y="3337560"/>
            <a:ext cx="5303520" cy="14173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337560"/>
            <a:ext cx="5303520" cy="64008"/>
          </a:xfrm>
          <a:prstGeom prst="rect">
            <a:avLst/>
          </a:prstGeom>
          <a:solidFill>
            <a:srgbClr val="E86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 y="3502152"/>
            <a:ext cx="4974336" cy="320040"/>
          </a:xfrm>
          <a:prstGeom prst="rect">
            <a:avLst/>
          </a:prstGeom>
          <a:noFill/>
        </p:spPr>
        <p:txBody>
          <a:bodyPr wrap="none">
            <a:spAutoFit/>
          </a:bodyPr>
          <a:lstStyle/>
          <a:p>
            <a:pPr>
              <a:defRPr sz="1100" b="1">
                <a:solidFill>
                  <a:srgbClr val="AAB8C9"/>
                </a:solidFill>
                <a:latin typeface="Aptos"/>
              </a:defRPr>
            </a:pPr>
            <a:r>
              <a:t>AT RISK CUSTOMERS</a:t>
            </a:r>
          </a:p>
        </p:txBody>
      </p:sp>
      <p:sp>
        <p:nvSpPr>
          <p:cNvPr id="20" name="TextBox 19"/>
          <p:cNvSpPr txBox="1"/>
          <p:nvPr/>
        </p:nvSpPr>
        <p:spPr>
          <a:xfrm>
            <a:off x="804671" y="3867911"/>
            <a:ext cx="4974336" cy="502920"/>
          </a:xfrm>
          <a:prstGeom prst="rect">
            <a:avLst/>
          </a:prstGeom>
          <a:noFill/>
        </p:spPr>
        <p:txBody>
          <a:bodyPr wrap="none">
            <a:spAutoFit/>
          </a:bodyPr>
          <a:lstStyle/>
          <a:p>
            <a:pPr>
              <a:defRPr sz="2400" b="1">
                <a:solidFill>
                  <a:srgbClr val="F5F8FC"/>
                </a:solidFill>
                <a:latin typeface="Aptos Display"/>
              </a:defRPr>
            </a:pPr>
            <a:r>
              <a:t>Re-engage</a:t>
            </a:r>
          </a:p>
        </p:txBody>
      </p:sp>
      <p:sp>
        <p:nvSpPr>
          <p:cNvPr id="21" name="TextBox 20"/>
          <p:cNvSpPr txBox="1"/>
          <p:nvPr/>
        </p:nvSpPr>
        <p:spPr>
          <a:xfrm>
            <a:off x="804671" y="4361688"/>
            <a:ext cx="4974336" cy="274320"/>
          </a:xfrm>
          <a:prstGeom prst="rect">
            <a:avLst/>
          </a:prstGeom>
          <a:noFill/>
        </p:spPr>
        <p:txBody>
          <a:bodyPr wrap="none">
            <a:spAutoFit/>
          </a:bodyPr>
          <a:lstStyle/>
          <a:p>
            <a:pPr>
              <a:defRPr sz="1000">
                <a:solidFill>
                  <a:srgbClr val="AAB8C9"/>
                </a:solidFill>
                <a:latin typeface="Aptos"/>
              </a:defRPr>
            </a:pPr>
            <a:r>
              <a:t>Personalized discounts, reminders and targeted win-back campaigns.</a:t>
            </a:r>
          </a:p>
        </p:txBody>
      </p:sp>
      <p:sp>
        <p:nvSpPr>
          <p:cNvPr id="22" name="Rounded Rectangle 21"/>
          <p:cNvSpPr/>
          <p:nvPr/>
        </p:nvSpPr>
        <p:spPr>
          <a:xfrm>
            <a:off x="6217920" y="3337560"/>
            <a:ext cx="5303520" cy="14173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337560"/>
            <a:ext cx="530352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3502152"/>
            <a:ext cx="4974336" cy="320040"/>
          </a:xfrm>
          <a:prstGeom prst="rect">
            <a:avLst/>
          </a:prstGeom>
          <a:noFill/>
        </p:spPr>
        <p:txBody>
          <a:bodyPr wrap="none">
            <a:spAutoFit/>
          </a:bodyPr>
          <a:lstStyle/>
          <a:p>
            <a:pPr>
              <a:defRPr sz="1100" b="1">
                <a:solidFill>
                  <a:srgbClr val="AAB8C9"/>
                </a:solidFill>
                <a:latin typeface="Aptos"/>
              </a:defRPr>
            </a:pPr>
            <a:r>
              <a:t>LOW VALUE CUSTOMERS</a:t>
            </a:r>
          </a:p>
        </p:txBody>
      </p:sp>
      <p:sp>
        <p:nvSpPr>
          <p:cNvPr id="25" name="TextBox 24"/>
          <p:cNvSpPr txBox="1"/>
          <p:nvPr/>
        </p:nvSpPr>
        <p:spPr>
          <a:xfrm>
            <a:off x="6382512" y="3867911"/>
            <a:ext cx="4974336" cy="502920"/>
          </a:xfrm>
          <a:prstGeom prst="rect">
            <a:avLst/>
          </a:prstGeom>
          <a:noFill/>
        </p:spPr>
        <p:txBody>
          <a:bodyPr wrap="none">
            <a:spAutoFit/>
          </a:bodyPr>
          <a:lstStyle/>
          <a:p>
            <a:pPr>
              <a:defRPr sz="2400" b="1">
                <a:solidFill>
                  <a:srgbClr val="F5F8FC"/>
                </a:solidFill>
                <a:latin typeface="Aptos Display"/>
              </a:defRPr>
            </a:pPr>
            <a:r>
              <a:t>Optimize</a:t>
            </a:r>
          </a:p>
        </p:txBody>
      </p:sp>
      <p:sp>
        <p:nvSpPr>
          <p:cNvPr id="26" name="TextBox 25"/>
          <p:cNvSpPr txBox="1"/>
          <p:nvPr/>
        </p:nvSpPr>
        <p:spPr>
          <a:xfrm>
            <a:off x="6382512" y="4361688"/>
            <a:ext cx="4974336" cy="274320"/>
          </a:xfrm>
          <a:prstGeom prst="rect">
            <a:avLst/>
          </a:prstGeom>
          <a:noFill/>
        </p:spPr>
        <p:txBody>
          <a:bodyPr wrap="none">
            <a:spAutoFit/>
          </a:bodyPr>
          <a:lstStyle/>
          <a:p>
            <a:pPr>
              <a:defRPr sz="1000">
                <a:solidFill>
                  <a:srgbClr val="AAB8C9"/>
                </a:solidFill>
                <a:latin typeface="Aptos"/>
              </a:defRPr>
            </a:pPr>
            <a:r>
              <a:t>Entry-level offers, recommendations and cost-efficient promotions.</a:t>
            </a:r>
          </a:p>
        </p:txBody>
      </p:sp>
      <p:sp>
        <p:nvSpPr>
          <p:cNvPr id="27" name="TextBox 26"/>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12 • CLOSE</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Conclusion &amp; Future Scope</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A complete analytics story: behavior → segmentation → value → action.</a:t>
            </a:r>
          </a:p>
        </p:txBody>
      </p:sp>
      <p:sp>
        <p:nvSpPr>
          <p:cNvPr id="7" name="TextBox 6"/>
          <p:cNvSpPr txBox="1"/>
          <p:nvPr/>
        </p:nvSpPr>
        <p:spPr>
          <a:xfrm>
            <a:off x="777240" y="1645920"/>
            <a:ext cx="5486400" cy="3291840"/>
          </a:xfrm>
          <a:prstGeom prst="rect">
            <a:avLst/>
          </a:prstGeom>
          <a:noFill/>
        </p:spPr>
        <p:txBody>
          <a:bodyPr wrap="square">
            <a:spAutoFit/>
          </a:bodyPr>
          <a:lstStyle/>
          <a:p>
            <a:pPr>
              <a:spcAft>
                <a:spcPts val="900"/>
              </a:spcAft>
              <a:defRPr sz="1600">
                <a:solidFill>
                  <a:srgbClr val="E8EEF5"/>
                </a:solidFill>
                <a:latin typeface="Aptos"/>
              </a:defRPr>
            </a:pPr>
            <a:r>
              <a:t>• Built an end-to-end customer analytics workflow using Python.</a:t>
            </a:r>
          </a:p>
          <a:p>
            <a:pPr>
              <a:spcAft>
                <a:spcPts val="900"/>
              </a:spcAft>
              <a:defRPr sz="1600">
                <a:solidFill>
                  <a:srgbClr val="E8EEF5"/>
                </a:solidFill>
                <a:latin typeface="Aptos"/>
              </a:defRPr>
            </a:pPr>
            <a:r>
              <a:t>• Combined RFM analysis with K-Means clustering for behavioral segmentation.</a:t>
            </a:r>
          </a:p>
          <a:p>
            <a:pPr>
              <a:spcAft>
                <a:spcPts val="900"/>
              </a:spcAft>
              <a:defRPr sz="1600">
                <a:solidFill>
                  <a:srgbClr val="E8EEF5"/>
                </a:solidFill>
                <a:latin typeface="Aptos"/>
              </a:defRPr>
            </a:pPr>
            <a:r>
              <a:t>• Estimated CLV to identify customer value differences.</a:t>
            </a:r>
          </a:p>
          <a:p>
            <a:pPr>
              <a:spcAft>
                <a:spcPts val="900"/>
              </a:spcAft>
              <a:defRPr sz="1600">
                <a:solidFill>
                  <a:srgbClr val="E8EEF5"/>
                </a:solidFill>
                <a:latin typeface="Aptos"/>
              </a:defRPr>
            </a:pPr>
            <a:r>
              <a:t>• Converted analytical findings into segment-specific business recommendations.</a:t>
            </a:r>
          </a:p>
        </p:txBody>
      </p:sp>
      <p:sp>
        <p:nvSpPr>
          <p:cNvPr id="8" name="Rounded Rectangle 7"/>
          <p:cNvSpPr/>
          <p:nvPr/>
        </p:nvSpPr>
        <p:spPr>
          <a:xfrm>
            <a:off x="6720840" y="1645920"/>
            <a:ext cx="4754880" cy="329184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20840" y="1645920"/>
            <a:ext cx="475488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85431" y="1810512"/>
            <a:ext cx="4425696" cy="320040"/>
          </a:xfrm>
          <a:prstGeom prst="rect">
            <a:avLst/>
          </a:prstGeom>
          <a:noFill/>
        </p:spPr>
        <p:txBody>
          <a:bodyPr wrap="none">
            <a:spAutoFit/>
          </a:bodyPr>
          <a:lstStyle/>
          <a:p>
            <a:pPr>
              <a:defRPr sz="1100" b="1">
                <a:solidFill>
                  <a:srgbClr val="AAB8C9"/>
                </a:solidFill>
                <a:latin typeface="Aptos"/>
              </a:defRPr>
            </a:pPr>
            <a:r>
              <a:t>FUTURE SCOPE</a:t>
            </a:r>
          </a:p>
        </p:txBody>
      </p:sp>
      <p:sp>
        <p:nvSpPr>
          <p:cNvPr id="11" name="TextBox 10"/>
          <p:cNvSpPr txBox="1"/>
          <p:nvPr/>
        </p:nvSpPr>
        <p:spPr>
          <a:xfrm>
            <a:off x="6885431" y="2670048"/>
            <a:ext cx="4425696" cy="2148840"/>
          </a:xfrm>
          <a:prstGeom prst="rect">
            <a:avLst/>
          </a:prstGeom>
          <a:noFill/>
        </p:spPr>
        <p:txBody>
          <a:bodyPr wrap="none">
            <a:spAutoFit/>
          </a:bodyPr>
          <a:lstStyle/>
          <a:p>
            <a:pPr>
              <a:defRPr sz="1000">
                <a:solidFill>
                  <a:srgbClr val="AAB8C9"/>
                </a:solidFill>
                <a:latin typeface="Aptos"/>
              </a:defRPr>
            </a:pPr>
            <a:r>
              <a:t>Real-time customer scoring</a:t>
            </a:r>
            <a:br/>
            <a:r>
              <a:t>Recommendation engine</a:t>
            </a:r>
            <a:br/>
            <a:r>
              <a:t>Churn prediction</a:t>
            </a:r>
            <a:br/>
            <a:r>
              <a:t>Interactive Power BI dashboard</a:t>
            </a:r>
            <a:br/>
            <a:r>
              <a:t>Model monitoring and automated campaigns</a:t>
            </a:r>
          </a:p>
        </p:txBody>
      </p:sp>
      <p:sp>
        <p:nvSpPr>
          <p:cNvPr id="12" name="TextBox 11"/>
          <p:cNvSpPr txBox="1"/>
          <p:nvPr/>
        </p:nvSpPr>
        <p:spPr>
          <a:xfrm>
            <a:off x="777240" y="5577840"/>
            <a:ext cx="9601200" cy="502920"/>
          </a:xfrm>
          <a:prstGeom prst="rect">
            <a:avLst/>
          </a:prstGeom>
          <a:noFill/>
        </p:spPr>
        <p:txBody>
          <a:bodyPr wrap="none">
            <a:spAutoFit/>
          </a:bodyPr>
          <a:lstStyle/>
          <a:p>
            <a:pPr>
              <a:defRPr sz="2100" b="1">
                <a:solidFill>
                  <a:srgbClr val="26B9B0"/>
                </a:solidFill>
                <a:latin typeface="Aptos Display"/>
              </a:defRPr>
            </a:pPr>
            <a:r>
              <a:t>From transaction records to customer intelligence.</a:t>
            </a:r>
          </a:p>
        </p:txBody>
      </p:sp>
      <p:sp>
        <p:nvSpPr>
          <p:cNvPr id="13" name="TextBox 12"/>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